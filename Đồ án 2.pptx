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9" r:id="rId9"/>
    <p:sldId id="263" r:id="rId10"/>
    <p:sldId id="264" r:id="rId11"/>
    <p:sldId id="265" r:id="rId12"/>
    <p:sldId id="270" r:id="rId13"/>
    <p:sldId id="271" r:id="rId14"/>
    <p:sldId id="266" r:id="rId15"/>
    <p:sldId id="267" r:id="rId16"/>
  </p:sldIdLst>
  <p:sldSz cx="12192000" cy="6858000"/>
  <p:notesSz cx="6858000" cy="9144000"/>
  <p:embeddedFontLst>
    <p:embeddedFont>
      <p:font typeface="DM Sans" pitchFamily="2" charset="0"/>
      <p:regular r:id="rId18"/>
      <p:bold r:id="rId19"/>
      <p:italic r:id="rId20"/>
      <p:boldItalic r:id="rId21"/>
    </p:embeddedFont>
    <p:embeddedFont>
      <p:font typeface="Merriweather" panose="000005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4ADA79-A1E6-43DD-BC49-39F52E78A72E}">
  <a:tblStyle styleId="{C74ADA79-A1E6-43DD-BC49-39F52E78A72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a:extLst>
            <a:ext uri="{FF2B5EF4-FFF2-40B4-BE49-F238E27FC236}">
              <a16:creationId xmlns:a16="http://schemas.microsoft.com/office/drawing/2014/main" id="{33266A30-CF5E-A95A-8E55-01B84D0587E7}"/>
            </a:ext>
          </a:extLst>
        </p:cNvPr>
        <p:cNvGrpSpPr/>
        <p:nvPr/>
      </p:nvGrpSpPr>
      <p:grpSpPr>
        <a:xfrm>
          <a:off x="0" y="0"/>
          <a:ext cx="0" cy="0"/>
          <a:chOff x="0" y="0"/>
          <a:chExt cx="0" cy="0"/>
        </a:xfrm>
      </p:grpSpPr>
      <p:sp>
        <p:nvSpPr>
          <p:cNvPr id="194" name="Google Shape;194;p8:notes">
            <a:extLst>
              <a:ext uri="{FF2B5EF4-FFF2-40B4-BE49-F238E27FC236}">
                <a16:creationId xmlns:a16="http://schemas.microsoft.com/office/drawing/2014/main" id="{7D366FF8-C718-025D-CB78-8294247386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8:notes">
            <a:extLst>
              <a:ext uri="{FF2B5EF4-FFF2-40B4-BE49-F238E27FC236}">
                <a16:creationId xmlns:a16="http://schemas.microsoft.com/office/drawing/2014/main" id="{970442AC-5996-2932-3D78-9BF6CF3E0F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1254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DA23E919-B123-275C-77CF-4A64574AEDC7}"/>
            </a:ext>
          </a:extLst>
        </p:cNvPr>
        <p:cNvGrpSpPr/>
        <p:nvPr/>
      </p:nvGrpSpPr>
      <p:grpSpPr>
        <a:xfrm>
          <a:off x="0" y="0"/>
          <a:ext cx="0" cy="0"/>
          <a:chOff x="0" y="0"/>
          <a:chExt cx="0" cy="0"/>
        </a:xfrm>
      </p:grpSpPr>
      <p:sp>
        <p:nvSpPr>
          <p:cNvPr id="228" name="Google Shape;228;p10:notes">
            <a:extLst>
              <a:ext uri="{FF2B5EF4-FFF2-40B4-BE49-F238E27FC236}">
                <a16:creationId xmlns:a16="http://schemas.microsoft.com/office/drawing/2014/main" id="{BF01219E-0261-6EC0-BC44-D75E8F44B3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10:notes">
            <a:extLst>
              <a:ext uri="{FF2B5EF4-FFF2-40B4-BE49-F238E27FC236}">
                <a16:creationId xmlns:a16="http://schemas.microsoft.com/office/drawing/2014/main" id="{D7A0E1F8-E37C-FA7A-4C3F-751490682A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4427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69FE3B7F-283D-77EE-A1A1-9165B2A4D5D3}"/>
            </a:ext>
          </a:extLst>
        </p:cNvPr>
        <p:cNvGrpSpPr/>
        <p:nvPr/>
      </p:nvGrpSpPr>
      <p:grpSpPr>
        <a:xfrm>
          <a:off x="0" y="0"/>
          <a:ext cx="0" cy="0"/>
          <a:chOff x="0" y="0"/>
          <a:chExt cx="0" cy="0"/>
        </a:xfrm>
      </p:grpSpPr>
      <p:sp>
        <p:nvSpPr>
          <p:cNvPr id="228" name="Google Shape;228;p10:notes">
            <a:extLst>
              <a:ext uri="{FF2B5EF4-FFF2-40B4-BE49-F238E27FC236}">
                <a16:creationId xmlns:a16="http://schemas.microsoft.com/office/drawing/2014/main" id="{6F0EC4D9-7962-6156-FCB0-F619BB6469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10:notes">
            <a:extLst>
              <a:ext uri="{FF2B5EF4-FFF2-40B4-BE49-F238E27FC236}">
                <a16:creationId xmlns:a16="http://schemas.microsoft.com/office/drawing/2014/main" id="{60C46A22-F267-856E-57F3-0CEBE12B4A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71509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6.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png"/><Relationship Id="rId7"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571500"/>
            <a:ext cx="11049000" cy="5715000"/>
          </a:xfrm>
          <a:prstGeom prst="rect">
            <a:avLst/>
          </a:prstGeom>
          <a:noFill/>
          <a:ln>
            <a:noFill/>
          </a:ln>
        </p:spPr>
      </p:pic>
      <p:sp>
        <p:nvSpPr>
          <p:cNvPr id="86" name="Google Shape;86;p13"/>
          <p:cNvSpPr txBox="1"/>
          <p:nvPr/>
        </p:nvSpPr>
        <p:spPr>
          <a:xfrm>
            <a:off x="895350" y="943123"/>
            <a:ext cx="10401300" cy="2194470"/>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1" i="0" u="none" strike="noStrike" cap="none">
                <a:solidFill>
                  <a:srgbClr val="F3F0DF"/>
                </a:solidFill>
                <a:latin typeface="Merriweather"/>
                <a:ea typeface="Merriweather"/>
                <a:cs typeface="Merriweather"/>
                <a:sym typeface="Merriweather"/>
              </a:rPr>
              <a:t>Xây Dựng Hệ Thống Cảm Biến Đa Điểm</a:t>
            </a:r>
            <a:br>
              <a:rPr lang="en-US" sz="1800" b="0" i="0" u="none" strike="noStrike" cap="none">
                <a:solidFill>
                  <a:schemeClr val="dk1"/>
                </a:solidFill>
                <a:latin typeface="Calibri"/>
                <a:ea typeface="Calibri"/>
                <a:cs typeface="Calibri"/>
                <a:sym typeface="Calibri"/>
              </a:rPr>
            </a:br>
            <a:r>
              <a:rPr lang="en-US" sz="4800" b="1" i="0" u="none" strike="noStrike" cap="none">
                <a:solidFill>
                  <a:srgbClr val="F3F0DF"/>
                </a:solidFill>
                <a:latin typeface="Merriweather"/>
                <a:ea typeface="Merriweather"/>
                <a:cs typeface="Merriweather"/>
                <a:sym typeface="Merriweather"/>
              </a:rPr>
              <a:t> ESP-MESH &amp; MQTT</a:t>
            </a:r>
            <a:endParaRPr/>
          </a:p>
        </p:txBody>
      </p:sp>
      <p:sp>
        <p:nvSpPr>
          <p:cNvPr id="87" name="Google Shape;87;p13"/>
          <p:cNvSpPr txBox="1"/>
          <p:nvPr/>
        </p:nvSpPr>
        <p:spPr>
          <a:xfrm>
            <a:off x="2801391" y="3709094"/>
            <a:ext cx="6589067"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CDD6E2"/>
                </a:solidFill>
                <a:latin typeface="DM Sans"/>
                <a:ea typeface="DM Sans"/>
                <a:cs typeface="DM Sans"/>
                <a:sym typeface="DM Sans"/>
              </a:rPr>
              <a:t>GVHD: Nguyễn Trọng Luật | SVTH: Nguyễn Trường Sơn</a:t>
            </a:r>
            <a:endParaRPr/>
          </a:p>
        </p:txBody>
      </p:sp>
      <p:sp>
        <p:nvSpPr>
          <p:cNvPr id="88" name="Google Shape;88;p13"/>
          <p:cNvSpPr txBox="1"/>
          <p:nvPr/>
        </p:nvSpPr>
        <p:spPr>
          <a:xfrm>
            <a:off x="3978473" y="4783484"/>
            <a:ext cx="4235053" cy="837922"/>
          </a:xfrm>
          <a:prstGeom prst="rect">
            <a:avLst/>
          </a:prstGeom>
          <a:noFill/>
          <a:ln>
            <a:noFill/>
          </a:ln>
        </p:spPr>
        <p:txBody>
          <a:bodyPr spcFirstLastPara="1" wrap="square" lIns="0" tIns="0" rIns="0" bIns="0" anchor="t" anchorCtr="0">
            <a:spAutoFit/>
          </a:bodyPr>
          <a:lstStyle/>
          <a:p>
            <a:pPr marL="0" marR="0" lvl="0" indent="0" algn="ctr" rtl="0">
              <a:lnSpc>
                <a:spcPct val="165000"/>
              </a:lnSpc>
              <a:spcBef>
                <a:spcPts val="0"/>
              </a:spcBef>
              <a:spcAft>
                <a:spcPts val="0"/>
              </a:spcAft>
              <a:buNone/>
            </a:pPr>
            <a:r>
              <a:rPr lang="en-US" sz="1650" b="0" i="0" u="none" strike="noStrike" cap="none" dirty="0">
                <a:solidFill>
                  <a:srgbClr val="F3F0DF"/>
                </a:solidFill>
                <a:latin typeface="DM Sans"/>
                <a:ea typeface="DM Sans"/>
                <a:cs typeface="DM Sans"/>
                <a:sym typeface="DM Sans"/>
              </a:rPr>
              <a:t>Trường </a:t>
            </a:r>
            <a:r>
              <a:rPr lang="en-US" sz="1650" b="0" i="0" u="none" strike="noStrike" cap="none" dirty="0" err="1">
                <a:solidFill>
                  <a:srgbClr val="F3F0DF"/>
                </a:solidFill>
                <a:latin typeface="DM Sans"/>
                <a:ea typeface="DM Sans"/>
                <a:cs typeface="DM Sans"/>
                <a:sym typeface="DM Sans"/>
              </a:rPr>
              <a:t>Đại</a:t>
            </a:r>
            <a:r>
              <a:rPr lang="en-US" sz="1650" b="0" i="0" u="none" strike="noStrike" cap="none" dirty="0">
                <a:solidFill>
                  <a:srgbClr val="F3F0DF"/>
                </a:solidFill>
                <a:latin typeface="DM Sans"/>
                <a:ea typeface="DM Sans"/>
                <a:cs typeface="DM Sans"/>
                <a:sym typeface="DM Sans"/>
              </a:rPr>
              <a:t> Học </a:t>
            </a:r>
            <a:r>
              <a:rPr lang="en-US" sz="1650" b="0" i="0" u="none" strike="noStrike" cap="none" dirty="0" err="1">
                <a:solidFill>
                  <a:srgbClr val="F3F0DF"/>
                </a:solidFill>
                <a:latin typeface="DM Sans"/>
                <a:ea typeface="DM Sans"/>
                <a:cs typeface="DM Sans"/>
                <a:sym typeface="DM Sans"/>
              </a:rPr>
              <a:t>Bách</a:t>
            </a:r>
            <a:r>
              <a:rPr lang="en-US" sz="1650" b="0" i="0" u="none" strike="noStrike" cap="none" dirty="0">
                <a:solidFill>
                  <a:srgbClr val="F3F0DF"/>
                </a:solidFill>
                <a:latin typeface="DM Sans"/>
                <a:ea typeface="DM Sans"/>
                <a:cs typeface="DM Sans"/>
                <a:sym typeface="DM Sans"/>
              </a:rPr>
              <a:t> Khoa - ĐHQG TP.HCM</a:t>
            </a:r>
            <a:br>
              <a:rPr lang="en-US" sz="1800" b="0" i="0" u="none" strike="noStrike" cap="none" dirty="0">
                <a:solidFill>
                  <a:schemeClr val="dk1"/>
                </a:solidFill>
                <a:latin typeface="Calibri"/>
                <a:ea typeface="Calibri"/>
                <a:cs typeface="Calibri"/>
                <a:sym typeface="Calibri"/>
              </a:rPr>
            </a:br>
            <a:r>
              <a:rPr lang="en-US" sz="1650" b="0" i="0" u="none" strike="noStrike" cap="none" dirty="0">
                <a:solidFill>
                  <a:srgbClr val="F3F0DF"/>
                </a:solidFill>
                <a:latin typeface="DM Sans"/>
                <a:ea typeface="DM Sans"/>
                <a:cs typeface="DM Sans"/>
                <a:sym typeface="DM Sans"/>
              </a:rPr>
              <a:t> Khoa </a:t>
            </a:r>
            <a:r>
              <a:rPr lang="en-US" sz="1650" b="0" i="0" u="none" strike="noStrike" cap="none" dirty="0" err="1">
                <a:solidFill>
                  <a:srgbClr val="F3F0DF"/>
                </a:solidFill>
                <a:latin typeface="DM Sans"/>
                <a:ea typeface="DM Sans"/>
                <a:cs typeface="DM Sans"/>
                <a:sym typeface="DM Sans"/>
              </a:rPr>
              <a:t>Điện</a:t>
            </a:r>
            <a:r>
              <a:rPr lang="en-US" sz="1650" b="0" i="0" u="none" strike="noStrike" cap="none" dirty="0">
                <a:solidFill>
                  <a:srgbClr val="F3F0DF"/>
                </a:solidFill>
                <a:latin typeface="DM Sans"/>
                <a:ea typeface="DM Sans"/>
                <a:cs typeface="DM Sans"/>
                <a:sym typeface="DM Sans"/>
              </a:rPr>
              <a:t> - </a:t>
            </a:r>
            <a:r>
              <a:rPr lang="en-US" sz="1650" b="0" i="0" u="none" strike="noStrike" cap="none" dirty="0" err="1">
                <a:solidFill>
                  <a:srgbClr val="F3F0DF"/>
                </a:solidFill>
                <a:latin typeface="DM Sans"/>
                <a:ea typeface="DM Sans"/>
                <a:cs typeface="DM Sans"/>
                <a:sym typeface="DM Sans"/>
              </a:rPr>
              <a:t>Điện</a:t>
            </a:r>
            <a:r>
              <a:rPr lang="en-US" sz="1650" b="0" i="0" u="none" strike="noStrike" cap="none" dirty="0">
                <a:solidFill>
                  <a:srgbClr val="F3F0DF"/>
                </a:solidFill>
                <a:latin typeface="DM Sans"/>
                <a:ea typeface="DM Sans"/>
                <a:cs typeface="DM Sans"/>
                <a:sym typeface="DM Sans"/>
              </a:rPr>
              <a:t> </a:t>
            </a:r>
            <a:r>
              <a:rPr lang="en-US" sz="1650" b="0" i="0" u="none" strike="noStrike" cap="none" dirty="0" err="1">
                <a:solidFill>
                  <a:srgbClr val="F3F0DF"/>
                </a:solidFill>
                <a:latin typeface="DM Sans"/>
                <a:ea typeface="DM Sans"/>
                <a:cs typeface="DM Sans"/>
                <a:sym typeface="DM Sans"/>
              </a:rPr>
              <a:t>Tử</a:t>
            </a:r>
            <a:r>
              <a:rPr lang="en-US" sz="1650" b="0" i="0" u="none" strike="noStrike" cap="none" dirty="0">
                <a:solidFill>
                  <a:srgbClr val="F3F0DF"/>
                </a:solidFill>
                <a:latin typeface="DM Sans"/>
                <a:ea typeface="DM Sans"/>
                <a:cs typeface="DM Sans"/>
                <a:sym typeface="DM Sans"/>
              </a:rPr>
              <a:t> | MSSV: 2212930</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6286500" y="1976437"/>
            <a:ext cx="5334000" cy="3810000"/>
          </a:xfrm>
          <a:prstGeom prst="rect">
            <a:avLst/>
          </a:prstGeom>
          <a:noFill/>
          <a:ln>
            <a:noFill/>
          </a:ln>
        </p:spPr>
      </p:pic>
      <p:sp>
        <p:nvSpPr>
          <p:cNvPr id="95" name="Google Shape;95;p14"/>
          <p:cNvSpPr txBox="1"/>
          <p:nvPr/>
        </p:nvSpPr>
        <p:spPr>
          <a:xfrm>
            <a:off x="571500" y="2185987"/>
            <a:ext cx="56007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121212"/>
                </a:solidFill>
                <a:latin typeface="Merriweather"/>
                <a:ea typeface="Merriweather"/>
                <a:cs typeface="Merriweather"/>
                <a:sym typeface="Merriweather"/>
              </a:rPr>
              <a:t>Sự cần thiết của đề tài</a:t>
            </a:r>
            <a:endParaRPr/>
          </a:p>
        </p:txBody>
      </p:sp>
      <p:pic>
        <p:nvPicPr>
          <p:cNvPr id="96" name="Google Shape;96;p14" descr="image.png"/>
          <p:cNvPicPr preferRelativeResize="0"/>
          <p:nvPr/>
        </p:nvPicPr>
        <p:blipFill rotWithShape="1">
          <a:blip r:embed="rId5">
            <a:alphaModFix/>
          </a:blip>
          <a:srcRect/>
          <a:stretch/>
        </p:blipFill>
        <p:spPr>
          <a:xfrm>
            <a:off x="6324600" y="2014537"/>
            <a:ext cx="5257800" cy="3733800"/>
          </a:xfrm>
          <a:prstGeom prst="rect">
            <a:avLst/>
          </a:prstGeom>
          <a:noFill/>
          <a:ln>
            <a:noFill/>
          </a:ln>
        </p:spPr>
      </p:pic>
      <p:sp>
        <p:nvSpPr>
          <p:cNvPr id="97" name="Google Shape;97;p14"/>
          <p:cNvSpPr txBox="1"/>
          <p:nvPr/>
        </p:nvSpPr>
        <p:spPr>
          <a:xfrm>
            <a:off x="904875" y="2557462"/>
            <a:ext cx="5000625"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err="1">
                <a:solidFill>
                  <a:srgbClr val="333333"/>
                </a:solidFill>
                <a:latin typeface="DM Sans"/>
                <a:ea typeface="DM Sans"/>
                <a:cs typeface="DM Sans"/>
                <a:sym typeface="DM Sans"/>
              </a:rPr>
              <a:t>Giải</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quyết</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hạn</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chế</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vùng</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phủ</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sóng</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của</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mô</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hình</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truyền</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thống</a:t>
            </a:r>
            <a:r>
              <a:rPr lang="en-US" sz="1500" b="0" i="0" u="none" strike="noStrike" cap="none" dirty="0">
                <a:solidFill>
                  <a:srgbClr val="333333"/>
                </a:solidFill>
                <a:latin typeface="DM Sans"/>
                <a:ea typeface="DM Sans"/>
                <a:cs typeface="DM Sans"/>
                <a:sym typeface="DM Sans"/>
              </a:rPr>
              <a:t>.</a:t>
            </a:r>
            <a:endParaRPr dirty="0"/>
          </a:p>
        </p:txBody>
      </p:sp>
      <p:sp>
        <p:nvSpPr>
          <p:cNvPr id="98" name="Google Shape;98;p14"/>
          <p:cNvSpPr txBox="1"/>
          <p:nvPr/>
        </p:nvSpPr>
        <p:spPr>
          <a:xfrm>
            <a:off x="904875" y="3309937"/>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ESP-MESH cho phép mở rộng phạm vi mà không cần tăng công suất phát.</a:t>
            </a:r>
            <a:endParaRPr/>
          </a:p>
        </p:txBody>
      </p:sp>
      <p:sp>
        <p:nvSpPr>
          <p:cNvPr id="99" name="Google Shape;99;p14"/>
          <p:cNvSpPr txBox="1"/>
          <p:nvPr/>
        </p:nvSpPr>
        <p:spPr>
          <a:xfrm>
            <a:off x="904875" y="4062412"/>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MQTT cung cấp cơ chế Publish/Subscribe nhẹ, ổn định cho thiết bị IoT.</a:t>
            </a:r>
            <a:endParaRPr/>
          </a:p>
        </p:txBody>
      </p:sp>
      <p:pic>
        <p:nvPicPr>
          <p:cNvPr id="101" name="Google Shape;101;p14" descr="image.png"/>
          <p:cNvPicPr preferRelativeResize="0"/>
          <p:nvPr/>
        </p:nvPicPr>
        <p:blipFill rotWithShape="1">
          <a:blip r:embed="rId6">
            <a:alphaModFix/>
          </a:blip>
          <a:srcRect/>
          <a:stretch/>
        </p:blipFill>
        <p:spPr>
          <a:xfrm>
            <a:off x="571500" y="2600325"/>
            <a:ext cx="209550" cy="219075"/>
          </a:xfrm>
          <a:prstGeom prst="rect">
            <a:avLst/>
          </a:prstGeom>
          <a:noFill/>
          <a:ln>
            <a:noFill/>
          </a:ln>
        </p:spPr>
      </p:pic>
      <p:pic>
        <p:nvPicPr>
          <p:cNvPr id="102" name="Google Shape;102;p14" descr="image.png"/>
          <p:cNvPicPr preferRelativeResize="0"/>
          <p:nvPr/>
        </p:nvPicPr>
        <p:blipFill rotWithShape="1">
          <a:blip r:embed="rId6">
            <a:alphaModFix/>
          </a:blip>
          <a:srcRect/>
          <a:stretch/>
        </p:blipFill>
        <p:spPr>
          <a:xfrm>
            <a:off x="571500" y="3352800"/>
            <a:ext cx="209550" cy="219075"/>
          </a:xfrm>
          <a:prstGeom prst="rect">
            <a:avLst/>
          </a:prstGeom>
          <a:noFill/>
          <a:ln>
            <a:noFill/>
          </a:ln>
        </p:spPr>
      </p:pic>
      <p:pic>
        <p:nvPicPr>
          <p:cNvPr id="103" name="Google Shape;103;p14" descr="image.png"/>
          <p:cNvPicPr preferRelativeResize="0"/>
          <p:nvPr/>
        </p:nvPicPr>
        <p:blipFill rotWithShape="1">
          <a:blip r:embed="rId6">
            <a:alphaModFix/>
          </a:blip>
          <a:srcRect/>
          <a:stretch/>
        </p:blipFill>
        <p:spPr>
          <a:xfrm>
            <a:off x="571500" y="4105275"/>
            <a:ext cx="209550" cy="219075"/>
          </a:xfrm>
          <a:prstGeom prst="rect">
            <a:avLst/>
          </a:prstGeom>
          <a:noFill/>
          <a:ln>
            <a:noFill/>
          </a:ln>
        </p:spPr>
      </p:pic>
      <p:sp>
        <p:nvSpPr>
          <p:cNvPr id="105" name="Google Shape;105;p14"/>
          <p:cNvSpPr txBox="1"/>
          <p:nvPr/>
        </p:nvSpPr>
        <p:spPr>
          <a:xfrm>
            <a:off x="571500" y="57150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5088"/>
                </a:solidFill>
                <a:latin typeface="Merriweather"/>
                <a:ea typeface="Merriweather"/>
                <a:cs typeface="Merriweather"/>
                <a:sym typeface="Merriweather"/>
              </a:rPr>
              <a:t>1. Tổng Quan &amp; Nhiệm Vụ</a:t>
            </a:r>
            <a:endParaRPr/>
          </a:p>
        </p:txBody>
      </p:sp>
      <p:sp>
        <p:nvSpPr>
          <p:cNvPr id="106" name="Google Shape;106;p14"/>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2" name="Google Shape;112;p15" descr="image.png"/>
          <p:cNvPicPr preferRelativeResize="0"/>
          <p:nvPr/>
        </p:nvPicPr>
        <p:blipFill rotWithShape="1">
          <a:blip r:embed="rId4">
            <a:alphaModFix/>
          </a:blip>
          <a:srcRect/>
          <a:stretch/>
        </p:blipFill>
        <p:spPr>
          <a:xfrm>
            <a:off x="571500" y="2443162"/>
            <a:ext cx="3555950" cy="2876550"/>
          </a:xfrm>
          <a:prstGeom prst="rect">
            <a:avLst/>
          </a:prstGeom>
          <a:noFill/>
          <a:ln>
            <a:noFill/>
          </a:ln>
        </p:spPr>
      </p:pic>
      <p:pic>
        <p:nvPicPr>
          <p:cNvPr id="113" name="Google Shape;113;p15" descr="image.png"/>
          <p:cNvPicPr preferRelativeResize="0"/>
          <p:nvPr/>
        </p:nvPicPr>
        <p:blipFill rotWithShape="1">
          <a:blip r:embed="rId5">
            <a:alphaModFix/>
          </a:blip>
          <a:srcRect/>
          <a:stretch/>
        </p:blipFill>
        <p:spPr>
          <a:xfrm>
            <a:off x="4317950" y="2443162"/>
            <a:ext cx="3555950" cy="2876550"/>
          </a:xfrm>
          <a:prstGeom prst="rect">
            <a:avLst/>
          </a:prstGeom>
          <a:noFill/>
          <a:ln>
            <a:noFill/>
          </a:ln>
        </p:spPr>
      </p:pic>
      <p:pic>
        <p:nvPicPr>
          <p:cNvPr id="114" name="Google Shape;114;p15" descr="image.png"/>
          <p:cNvPicPr preferRelativeResize="0"/>
          <p:nvPr/>
        </p:nvPicPr>
        <p:blipFill rotWithShape="1">
          <a:blip r:embed="rId6">
            <a:alphaModFix/>
          </a:blip>
          <a:srcRect/>
          <a:stretch/>
        </p:blipFill>
        <p:spPr>
          <a:xfrm>
            <a:off x="8064400" y="2443162"/>
            <a:ext cx="3555950" cy="2876550"/>
          </a:xfrm>
          <a:prstGeom prst="rect">
            <a:avLst/>
          </a:prstGeom>
          <a:noFill/>
          <a:ln>
            <a:noFill/>
          </a:ln>
        </p:spPr>
      </p:pic>
      <p:sp>
        <p:nvSpPr>
          <p:cNvPr id="115" name="Google Shape;115;p15"/>
          <p:cNvSpPr txBox="1"/>
          <p:nvPr/>
        </p:nvSpPr>
        <p:spPr>
          <a:xfrm>
            <a:off x="782638" y="3443287"/>
            <a:ext cx="313367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21212"/>
                </a:solidFill>
                <a:latin typeface="Merriweather"/>
                <a:ea typeface="Merriweather"/>
                <a:cs typeface="Merriweather"/>
                <a:sym typeface="Merriweather"/>
              </a:rPr>
              <a:t>Cấu Trúc Cây</a:t>
            </a:r>
            <a:endParaRPr/>
          </a:p>
        </p:txBody>
      </p:sp>
      <p:sp>
        <p:nvSpPr>
          <p:cNvPr id="116" name="Google Shape;116;p15"/>
          <p:cNvSpPr txBox="1"/>
          <p:nvPr/>
        </p:nvSpPr>
        <p:spPr>
          <a:xfrm>
            <a:off x="857250" y="3929062"/>
            <a:ext cx="298445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Tổ chức theo mô hình Tree Topology gồm nhiều tầng (layers) để tối ưu hóa lộ trình gói tin.</a:t>
            </a:r>
            <a:endParaRPr/>
          </a:p>
        </p:txBody>
      </p:sp>
      <p:sp>
        <p:nvSpPr>
          <p:cNvPr id="117" name="Google Shape;117;p15"/>
          <p:cNvSpPr txBox="1"/>
          <p:nvPr/>
        </p:nvSpPr>
        <p:spPr>
          <a:xfrm>
            <a:off x="4529089" y="3443287"/>
            <a:ext cx="313367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21212"/>
                </a:solidFill>
                <a:latin typeface="Merriweather"/>
                <a:ea typeface="Merriweather"/>
                <a:cs typeface="Merriweather"/>
                <a:sym typeface="Merriweather"/>
              </a:rPr>
              <a:t>Vai Trò Nút</a:t>
            </a:r>
            <a:endParaRPr/>
          </a:p>
        </p:txBody>
      </p:sp>
      <p:sp>
        <p:nvSpPr>
          <p:cNvPr id="118" name="Google Shape;118;p15"/>
          <p:cNvSpPr txBox="1"/>
          <p:nvPr/>
        </p:nvSpPr>
        <p:spPr>
          <a:xfrm>
            <a:off x="4603700" y="3929062"/>
            <a:ext cx="298445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Root Node (Gateway), Relay Node (Trung gian) và Leaf Node (Cảm biến đầu cuối).</a:t>
            </a:r>
            <a:endParaRPr/>
          </a:p>
        </p:txBody>
      </p:sp>
      <p:sp>
        <p:nvSpPr>
          <p:cNvPr id="119" name="Google Shape;119;p15"/>
          <p:cNvSpPr txBox="1"/>
          <p:nvPr/>
        </p:nvSpPr>
        <p:spPr>
          <a:xfrm>
            <a:off x="8275539" y="3443287"/>
            <a:ext cx="313367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21212"/>
                </a:solidFill>
                <a:latin typeface="Merriweather"/>
                <a:ea typeface="Merriweather"/>
                <a:cs typeface="Merriweather"/>
                <a:sym typeface="Merriweather"/>
              </a:rPr>
              <a:t>STA-SoftAP</a:t>
            </a:r>
            <a:endParaRPr/>
          </a:p>
        </p:txBody>
      </p:sp>
      <p:sp>
        <p:nvSpPr>
          <p:cNvPr id="120" name="Google Shape;120;p15"/>
          <p:cNvSpPr txBox="1"/>
          <p:nvPr/>
        </p:nvSpPr>
        <p:spPr>
          <a:xfrm>
            <a:off x="8350150" y="3929062"/>
            <a:ext cx="298445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Cơ chế hoạt động đồng thời Station và Access Point giúp mỗi nút tự làm relay cho nút khác.</a:t>
            </a:r>
            <a:endParaRPr/>
          </a:p>
        </p:txBody>
      </p:sp>
      <p:pic>
        <p:nvPicPr>
          <p:cNvPr id="121" name="Google Shape;121;p15" descr="image.png"/>
          <p:cNvPicPr preferRelativeResize="0"/>
          <p:nvPr/>
        </p:nvPicPr>
        <p:blipFill rotWithShape="1">
          <a:blip r:embed="rId7">
            <a:alphaModFix/>
          </a:blip>
          <a:srcRect/>
          <a:stretch/>
        </p:blipFill>
        <p:spPr>
          <a:xfrm>
            <a:off x="2135088" y="2852737"/>
            <a:ext cx="428625" cy="381000"/>
          </a:xfrm>
          <a:prstGeom prst="rect">
            <a:avLst/>
          </a:prstGeom>
          <a:noFill/>
          <a:ln>
            <a:noFill/>
          </a:ln>
        </p:spPr>
      </p:pic>
      <p:pic>
        <p:nvPicPr>
          <p:cNvPr id="122" name="Google Shape;122;p15" descr="image.png"/>
          <p:cNvPicPr preferRelativeResize="0"/>
          <p:nvPr/>
        </p:nvPicPr>
        <p:blipFill rotWithShape="1">
          <a:blip r:embed="rId8">
            <a:alphaModFix/>
          </a:blip>
          <a:srcRect/>
          <a:stretch/>
        </p:blipFill>
        <p:spPr>
          <a:xfrm>
            <a:off x="5857726" y="2852737"/>
            <a:ext cx="476250" cy="381000"/>
          </a:xfrm>
          <a:prstGeom prst="rect">
            <a:avLst/>
          </a:prstGeom>
          <a:noFill/>
          <a:ln>
            <a:noFill/>
          </a:ln>
        </p:spPr>
      </p:pic>
      <p:pic>
        <p:nvPicPr>
          <p:cNvPr id="123" name="Google Shape;123;p15" descr="image.png"/>
          <p:cNvPicPr preferRelativeResize="0"/>
          <p:nvPr/>
        </p:nvPicPr>
        <p:blipFill rotWithShape="1">
          <a:blip r:embed="rId9">
            <a:alphaModFix/>
          </a:blip>
          <a:srcRect/>
          <a:stretch/>
        </p:blipFill>
        <p:spPr>
          <a:xfrm>
            <a:off x="9627989" y="2852737"/>
            <a:ext cx="428625" cy="381000"/>
          </a:xfrm>
          <a:prstGeom prst="rect">
            <a:avLst/>
          </a:prstGeom>
          <a:noFill/>
          <a:ln>
            <a:noFill/>
          </a:ln>
        </p:spPr>
      </p:pic>
      <p:sp>
        <p:nvSpPr>
          <p:cNvPr id="124" name="Google Shape;124;p15"/>
          <p:cNvSpPr txBox="1"/>
          <p:nvPr/>
        </p:nvSpPr>
        <p:spPr>
          <a:xfrm>
            <a:off x="571500" y="57150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5088"/>
                </a:solidFill>
                <a:latin typeface="Merriweather"/>
                <a:ea typeface="Merriweather"/>
                <a:cs typeface="Merriweather"/>
                <a:sym typeface="Merriweather"/>
              </a:rPr>
              <a:t>2. Cơ Sở Lý Thuyết ESP-MESH</a:t>
            </a:r>
            <a:endParaRPr/>
          </a:p>
        </p:txBody>
      </p:sp>
      <p:sp>
        <p:nvSpPr>
          <p:cNvPr id="125" name="Google Shape;125;p15"/>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29"/>
        <p:cNvGrpSpPr/>
        <p:nvPr/>
      </p:nvGrpSpPr>
      <p:grpSpPr>
        <a:xfrm>
          <a:off x="0" y="0"/>
          <a:ext cx="0" cy="0"/>
          <a:chOff x="0" y="0"/>
          <a:chExt cx="0" cy="0"/>
        </a:xfrm>
      </p:grpSpPr>
      <p:pic>
        <p:nvPicPr>
          <p:cNvPr id="130" name="Google Shape;130;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1" name="Google Shape;131;p16" descr="image.png"/>
          <p:cNvPicPr preferRelativeResize="0"/>
          <p:nvPr/>
        </p:nvPicPr>
        <p:blipFill rotWithShape="1">
          <a:blip r:embed="rId4">
            <a:alphaModFix/>
          </a:blip>
          <a:srcRect/>
          <a:stretch/>
        </p:blipFill>
        <p:spPr>
          <a:xfrm>
            <a:off x="571500" y="2686050"/>
            <a:ext cx="5334000" cy="2390775"/>
          </a:xfrm>
          <a:prstGeom prst="rect">
            <a:avLst/>
          </a:prstGeom>
          <a:noFill/>
          <a:ln>
            <a:noFill/>
          </a:ln>
        </p:spPr>
      </p:pic>
      <p:pic>
        <p:nvPicPr>
          <p:cNvPr id="132" name="Google Shape;132;p16" descr="image.png"/>
          <p:cNvPicPr preferRelativeResize="0"/>
          <p:nvPr/>
        </p:nvPicPr>
        <p:blipFill rotWithShape="1">
          <a:blip r:embed="rId5">
            <a:alphaModFix/>
          </a:blip>
          <a:srcRect/>
          <a:stretch/>
        </p:blipFill>
        <p:spPr>
          <a:xfrm>
            <a:off x="6286500" y="2428875"/>
            <a:ext cx="5334000" cy="2905125"/>
          </a:xfrm>
          <a:prstGeom prst="rect">
            <a:avLst/>
          </a:prstGeom>
          <a:noFill/>
          <a:ln>
            <a:noFill/>
          </a:ln>
        </p:spPr>
      </p:pic>
      <p:sp>
        <p:nvSpPr>
          <p:cNvPr id="133" name="Google Shape;133;p16"/>
          <p:cNvSpPr txBox="1"/>
          <p:nvPr/>
        </p:nvSpPr>
        <p:spPr>
          <a:xfrm>
            <a:off x="857250" y="2971800"/>
            <a:ext cx="5000625" cy="219075"/>
          </a:xfrm>
          <a:prstGeom prst="rect">
            <a:avLst/>
          </a:prstGeom>
          <a:noFill/>
          <a:ln>
            <a:noFill/>
          </a:ln>
        </p:spPr>
        <p:txBody>
          <a:bodyPr spcFirstLastPara="1" wrap="square" lIns="180975" tIns="0" rIns="0" bIns="0" anchor="t" anchorCtr="0">
            <a:spAutoFit/>
          </a:bodyPr>
          <a:lstStyle/>
          <a:p>
            <a:pPr marL="0" marR="0" lvl="0" indent="0" algn="l" rtl="0">
              <a:spcBef>
                <a:spcPts val="0"/>
              </a:spcBef>
              <a:spcAft>
                <a:spcPts val="0"/>
              </a:spcAft>
              <a:buNone/>
            </a:pPr>
            <a:r>
              <a:rPr lang="en-US" sz="1404" b="1" i="0" u="none" strike="noStrike" cap="none">
                <a:solidFill>
                  <a:srgbClr val="005088"/>
                </a:solidFill>
                <a:latin typeface="Merriweather"/>
                <a:ea typeface="Merriweather"/>
                <a:cs typeface="Merriweather"/>
                <a:sym typeface="Merriweather"/>
              </a:rPr>
              <a:t>Tự Phục Hồi (Self-Healing)</a:t>
            </a:r>
            <a:endParaRPr/>
          </a:p>
        </p:txBody>
      </p:sp>
      <p:sp>
        <p:nvSpPr>
          <p:cNvPr id="134" name="Google Shape;134;p16"/>
          <p:cNvSpPr txBox="1"/>
          <p:nvPr/>
        </p:nvSpPr>
        <p:spPr>
          <a:xfrm>
            <a:off x="857250" y="3381375"/>
            <a:ext cx="476250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Mạng có khả năng tự phát hiện và sửa lỗi định tuyến. Khi một Parent node bị hỏng, các Child node sẽ tự động quét và kết nối với Parent node mới để duy trì liên kết.</a:t>
            </a:r>
            <a:endParaRPr/>
          </a:p>
        </p:txBody>
      </p:sp>
      <p:sp>
        <p:nvSpPr>
          <p:cNvPr id="135" name="Google Shape;135;p16"/>
          <p:cNvSpPr txBox="1"/>
          <p:nvPr/>
        </p:nvSpPr>
        <p:spPr>
          <a:xfrm>
            <a:off x="6572250" y="2714625"/>
            <a:ext cx="5000625" cy="219075"/>
          </a:xfrm>
          <a:prstGeom prst="rect">
            <a:avLst/>
          </a:prstGeom>
          <a:noFill/>
          <a:ln>
            <a:noFill/>
          </a:ln>
        </p:spPr>
        <p:txBody>
          <a:bodyPr spcFirstLastPara="1" wrap="square" lIns="180975" tIns="0" rIns="0" bIns="0" anchor="t" anchorCtr="0">
            <a:spAutoFit/>
          </a:bodyPr>
          <a:lstStyle/>
          <a:p>
            <a:pPr marL="0" marR="0" lvl="0" indent="0" algn="l" rtl="0">
              <a:spcBef>
                <a:spcPts val="0"/>
              </a:spcBef>
              <a:spcAft>
                <a:spcPts val="0"/>
              </a:spcAft>
              <a:buNone/>
            </a:pPr>
            <a:r>
              <a:rPr lang="en-US" sz="1404" b="1" i="0" u="none" strike="noStrike" cap="none">
                <a:solidFill>
                  <a:srgbClr val="005088"/>
                </a:solidFill>
                <a:latin typeface="Merriweather"/>
                <a:ea typeface="Merriweather"/>
                <a:cs typeface="Merriweather"/>
                <a:sym typeface="Merriweather"/>
              </a:rPr>
              <a:t>Tiêu Chí Chọn Parent</a:t>
            </a:r>
            <a:endParaRPr/>
          </a:p>
        </p:txBody>
      </p:sp>
      <p:pic>
        <p:nvPicPr>
          <p:cNvPr id="136" name="Google Shape;136;p16" descr="image.png"/>
          <p:cNvPicPr preferRelativeResize="0"/>
          <p:nvPr/>
        </p:nvPicPr>
        <p:blipFill rotWithShape="1">
          <a:blip r:embed="rId6">
            <a:alphaModFix/>
          </a:blip>
          <a:srcRect/>
          <a:stretch/>
        </p:blipFill>
        <p:spPr>
          <a:xfrm>
            <a:off x="857250" y="2990850"/>
            <a:ext cx="180975" cy="178296"/>
          </a:xfrm>
          <a:prstGeom prst="rect">
            <a:avLst/>
          </a:prstGeom>
          <a:noFill/>
          <a:ln>
            <a:noFill/>
          </a:ln>
        </p:spPr>
      </p:pic>
      <p:pic>
        <p:nvPicPr>
          <p:cNvPr id="137" name="Google Shape;137;p16" descr="image.png"/>
          <p:cNvPicPr preferRelativeResize="0"/>
          <p:nvPr/>
        </p:nvPicPr>
        <p:blipFill rotWithShape="1">
          <a:blip r:embed="rId7">
            <a:alphaModFix/>
          </a:blip>
          <a:srcRect/>
          <a:stretch/>
        </p:blipFill>
        <p:spPr>
          <a:xfrm>
            <a:off x="6572250" y="2733675"/>
            <a:ext cx="180975" cy="178296"/>
          </a:xfrm>
          <a:prstGeom prst="rect">
            <a:avLst/>
          </a:prstGeom>
          <a:noFill/>
          <a:ln>
            <a:noFill/>
          </a:ln>
        </p:spPr>
      </p:pic>
      <p:sp>
        <p:nvSpPr>
          <p:cNvPr id="138" name="Google Shape;138;p16"/>
          <p:cNvSpPr txBox="1"/>
          <p:nvPr/>
        </p:nvSpPr>
        <p:spPr>
          <a:xfrm>
            <a:off x="6905625" y="3086100"/>
            <a:ext cx="44291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3333"/>
                </a:solidFill>
                <a:latin typeface="DM Sans"/>
                <a:ea typeface="DM Sans"/>
                <a:cs typeface="DM Sans"/>
                <a:sym typeface="DM Sans"/>
              </a:rPr>
              <a:t>RSSI:</a:t>
            </a:r>
            <a:r>
              <a:rPr lang="en-US" sz="1500" b="0" i="0" u="none" strike="noStrike" cap="none">
                <a:solidFill>
                  <a:srgbClr val="333333"/>
                </a:solidFill>
                <a:latin typeface="DM Sans"/>
                <a:ea typeface="DM Sans"/>
                <a:cs typeface="DM Sans"/>
                <a:sym typeface="DM Sans"/>
              </a:rPr>
              <a:t> Ưu tiên nút có cường độ tín hiệu mạnh nhất.</a:t>
            </a:r>
            <a:endParaRPr/>
          </a:p>
        </p:txBody>
      </p:sp>
      <p:sp>
        <p:nvSpPr>
          <p:cNvPr id="139" name="Google Shape;139;p16"/>
          <p:cNvSpPr txBox="1"/>
          <p:nvPr/>
        </p:nvSpPr>
        <p:spPr>
          <a:xfrm>
            <a:off x="6905625" y="3533775"/>
            <a:ext cx="44291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3333"/>
                </a:solidFill>
                <a:latin typeface="DM Sans"/>
                <a:ea typeface="DM Sans"/>
                <a:cs typeface="DM Sans"/>
                <a:sym typeface="DM Sans"/>
              </a:rPr>
              <a:t>Layer:</a:t>
            </a:r>
            <a:r>
              <a:rPr lang="en-US" sz="1500" b="0" i="0" u="none" strike="noStrike" cap="none">
                <a:solidFill>
                  <a:srgbClr val="333333"/>
                </a:solidFill>
                <a:latin typeface="DM Sans"/>
                <a:ea typeface="DM Sans"/>
                <a:cs typeface="DM Sans"/>
                <a:sym typeface="DM Sans"/>
              </a:rPr>
              <a:t> Ưu tiên nút có tầng thấp hơn (gần Root hơn).</a:t>
            </a:r>
            <a:endParaRPr/>
          </a:p>
        </p:txBody>
      </p:sp>
      <p:sp>
        <p:nvSpPr>
          <p:cNvPr id="140" name="Google Shape;140;p16"/>
          <p:cNvSpPr txBox="1"/>
          <p:nvPr/>
        </p:nvSpPr>
        <p:spPr>
          <a:xfrm>
            <a:off x="6905625" y="4286250"/>
            <a:ext cx="44291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3333"/>
                </a:solidFill>
                <a:latin typeface="DM Sans"/>
                <a:ea typeface="DM Sans"/>
                <a:cs typeface="DM Sans"/>
                <a:sym typeface="DM Sans"/>
              </a:rPr>
              <a:t>Dung lượng:</a:t>
            </a:r>
            <a:r>
              <a:rPr lang="en-US" sz="1500" b="0" i="0" u="none" strike="noStrike" cap="none">
                <a:solidFill>
                  <a:srgbClr val="333333"/>
                </a:solidFill>
                <a:latin typeface="DM Sans"/>
                <a:ea typeface="DM Sans"/>
                <a:cs typeface="DM Sans"/>
                <a:sym typeface="DM Sans"/>
              </a:rPr>
              <a:t> Ưu tiên nút đang có ít Child node kết nối.</a:t>
            </a:r>
            <a:endParaRPr/>
          </a:p>
        </p:txBody>
      </p:sp>
      <p:sp>
        <p:nvSpPr>
          <p:cNvPr id="141" name="Google Shape;141;p16"/>
          <p:cNvSpPr txBox="1"/>
          <p:nvPr/>
        </p:nvSpPr>
        <p:spPr>
          <a:xfrm>
            <a:off x="571500" y="57150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5088"/>
                </a:solidFill>
                <a:latin typeface="Merriweather"/>
                <a:ea typeface="Merriweather"/>
                <a:cs typeface="Merriweather"/>
                <a:sym typeface="Merriweather"/>
              </a:rPr>
              <a:t>3. Cơ Chế Tự Tổ Chức &amp; Phục Hồi</a:t>
            </a:r>
            <a:endParaRPr/>
          </a:p>
        </p:txBody>
      </p:sp>
      <p:sp>
        <p:nvSpPr>
          <p:cNvPr id="142" name="Google Shape;142;p16"/>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46"/>
        <p:cNvGrpSpPr/>
        <p:nvPr/>
      </p:nvGrpSpPr>
      <p:grpSpPr>
        <a:xfrm>
          <a:off x="0" y="0"/>
          <a:ext cx="0" cy="0"/>
          <a:chOff x="0" y="0"/>
          <a:chExt cx="0" cy="0"/>
        </a:xfrm>
      </p:grpSpPr>
      <p:pic>
        <p:nvPicPr>
          <p:cNvPr id="147" name="Google Shape;147;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8" name="Google Shape;148;p17" descr="image.png"/>
          <p:cNvPicPr preferRelativeResize="0"/>
          <p:nvPr/>
        </p:nvPicPr>
        <p:blipFill rotWithShape="1">
          <a:blip r:embed="rId4">
            <a:alphaModFix/>
          </a:blip>
          <a:srcRect/>
          <a:stretch/>
        </p:blipFill>
        <p:spPr>
          <a:xfrm>
            <a:off x="6286500" y="1976437"/>
            <a:ext cx="5334000" cy="3810000"/>
          </a:xfrm>
          <a:prstGeom prst="rect">
            <a:avLst/>
          </a:prstGeom>
          <a:noFill/>
          <a:ln>
            <a:noFill/>
          </a:ln>
        </p:spPr>
      </p:pic>
      <p:sp>
        <p:nvSpPr>
          <p:cNvPr id="150" name="Google Shape;150;p17"/>
          <p:cNvSpPr txBox="1"/>
          <p:nvPr/>
        </p:nvSpPr>
        <p:spPr>
          <a:xfrm>
            <a:off x="904875" y="2752725"/>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3333"/>
                </a:solidFill>
                <a:latin typeface="DM Sans"/>
                <a:ea typeface="DM Sans"/>
                <a:cs typeface="DM Sans"/>
                <a:sym typeface="DM Sans"/>
              </a:rPr>
              <a:t>Leaf Node:</a:t>
            </a:r>
            <a:r>
              <a:rPr lang="en-US" sz="1500" b="0" i="0" u="none" strike="noStrike" cap="none">
                <a:solidFill>
                  <a:srgbClr val="333333"/>
                </a:solidFill>
                <a:latin typeface="DM Sans"/>
                <a:ea typeface="DM Sans"/>
                <a:cs typeface="DM Sans"/>
                <a:sym typeface="DM Sans"/>
              </a:rPr>
              <a:t> Thu thập dữ liệu DHT11, PIR, LDR và hiển thị OLED.</a:t>
            </a:r>
            <a:endParaRPr/>
          </a:p>
        </p:txBody>
      </p:sp>
      <p:sp>
        <p:nvSpPr>
          <p:cNvPr id="151" name="Google Shape;151;p17"/>
          <p:cNvSpPr txBox="1"/>
          <p:nvPr/>
        </p:nvSpPr>
        <p:spPr>
          <a:xfrm>
            <a:off x="904875" y="3505200"/>
            <a:ext cx="50006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3333"/>
                </a:solidFill>
                <a:latin typeface="DM Sans"/>
                <a:ea typeface="DM Sans"/>
                <a:cs typeface="DM Sans"/>
                <a:sym typeface="DM Sans"/>
              </a:rPr>
              <a:t>Relay Node:</a:t>
            </a:r>
            <a:r>
              <a:rPr lang="en-US" sz="1500" b="0" i="0" u="none" strike="noStrike" cap="none">
                <a:solidFill>
                  <a:srgbClr val="333333"/>
                </a:solidFill>
                <a:latin typeface="DM Sans"/>
                <a:ea typeface="DM Sans"/>
                <a:cs typeface="DM Sans"/>
                <a:sym typeface="DM Sans"/>
              </a:rPr>
              <a:t> Chuyển tiếp gói tin JSON giữa các tầng.</a:t>
            </a:r>
            <a:endParaRPr/>
          </a:p>
        </p:txBody>
      </p:sp>
      <p:sp>
        <p:nvSpPr>
          <p:cNvPr id="152" name="Google Shape;152;p17"/>
          <p:cNvSpPr txBox="1"/>
          <p:nvPr/>
        </p:nvSpPr>
        <p:spPr>
          <a:xfrm>
            <a:off x="904875" y="3952875"/>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3333"/>
                </a:solidFill>
                <a:latin typeface="DM Sans"/>
                <a:ea typeface="DM Sans"/>
                <a:cs typeface="DM Sans"/>
                <a:sym typeface="DM Sans"/>
              </a:rPr>
              <a:t>Root Node:</a:t>
            </a:r>
            <a:r>
              <a:rPr lang="en-US" sz="1500" b="0" i="0" u="none" strike="noStrike" cap="none">
                <a:solidFill>
                  <a:srgbClr val="333333"/>
                </a:solidFill>
                <a:latin typeface="DM Sans"/>
                <a:ea typeface="DM Sans"/>
                <a:cs typeface="DM Sans"/>
                <a:sym typeface="DM Sans"/>
              </a:rPr>
              <a:t> Gateway kết nối Router Wi-Fi và MQTT Broker.</a:t>
            </a:r>
            <a:endParaRPr/>
          </a:p>
        </p:txBody>
      </p:sp>
      <p:sp>
        <p:nvSpPr>
          <p:cNvPr id="153" name="Google Shape;153;p17"/>
          <p:cNvSpPr txBox="1"/>
          <p:nvPr/>
        </p:nvSpPr>
        <p:spPr>
          <a:xfrm>
            <a:off x="904875" y="4705350"/>
            <a:ext cx="50006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3333"/>
                </a:solidFill>
                <a:latin typeface="DM Sans"/>
                <a:ea typeface="DM Sans"/>
                <a:cs typeface="DM Sans"/>
                <a:sym typeface="DM Sans"/>
              </a:rPr>
              <a:t>MQTT Broker:</a:t>
            </a:r>
            <a:r>
              <a:rPr lang="en-US" sz="1500" b="0" i="0" u="none" strike="noStrike" cap="none">
                <a:solidFill>
                  <a:srgbClr val="333333"/>
                </a:solidFill>
                <a:latin typeface="DM Sans"/>
                <a:ea typeface="DM Sans"/>
                <a:cs typeface="DM Sans"/>
                <a:sym typeface="DM Sans"/>
              </a:rPr>
              <a:t> Phân phối dữ liệu tới ứng dụng giám sát.</a:t>
            </a:r>
            <a:endParaRPr/>
          </a:p>
        </p:txBody>
      </p:sp>
      <p:pic>
        <p:nvPicPr>
          <p:cNvPr id="154" name="Google Shape;154;p17" descr="image.png"/>
          <p:cNvPicPr preferRelativeResize="0"/>
          <p:nvPr/>
        </p:nvPicPr>
        <p:blipFill rotWithShape="1">
          <a:blip r:embed="rId5">
            <a:alphaModFix/>
          </a:blip>
          <a:srcRect/>
          <a:stretch/>
        </p:blipFill>
        <p:spPr>
          <a:xfrm>
            <a:off x="571500" y="2795587"/>
            <a:ext cx="209550" cy="219075"/>
          </a:xfrm>
          <a:prstGeom prst="rect">
            <a:avLst/>
          </a:prstGeom>
          <a:noFill/>
          <a:ln>
            <a:noFill/>
          </a:ln>
        </p:spPr>
      </p:pic>
      <p:pic>
        <p:nvPicPr>
          <p:cNvPr id="155" name="Google Shape;155;p17" descr="image.png"/>
          <p:cNvPicPr preferRelativeResize="0"/>
          <p:nvPr/>
        </p:nvPicPr>
        <p:blipFill rotWithShape="1">
          <a:blip r:embed="rId6">
            <a:alphaModFix/>
          </a:blip>
          <a:srcRect/>
          <a:stretch/>
        </p:blipFill>
        <p:spPr>
          <a:xfrm>
            <a:off x="571500" y="3548062"/>
            <a:ext cx="209550" cy="219075"/>
          </a:xfrm>
          <a:prstGeom prst="rect">
            <a:avLst/>
          </a:prstGeom>
          <a:noFill/>
          <a:ln>
            <a:noFill/>
          </a:ln>
        </p:spPr>
      </p:pic>
      <p:pic>
        <p:nvPicPr>
          <p:cNvPr id="156" name="Google Shape;156;p17" descr="image.png"/>
          <p:cNvPicPr preferRelativeResize="0"/>
          <p:nvPr/>
        </p:nvPicPr>
        <p:blipFill rotWithShape="1">
          <a:blip r:embed="rId7">
            <a:alphaModFix/>
          </a:blip>
          <a:srcRect/>
          <a:stretch/>
        </p:blipFill>
        <p:spPr>
          <a:xfrm>
            <a:off x="571500" y="3995737"/>
            <a:ext cx="238125" cy="219075"/>
          </a:xfrm>
          <a:prstGeom prst="rect">
            <a:avLst/>
          </a:prstGeom>
          <a:noFill/>
          <a:ln>
            <a:noFill/>
          </a:ln>
        </p:spPr>
      </p:pic>
      <p:pic>
        <p:nvPicPr>
          <p:cNvPr id="157" name="Google Shape;157;p17" descr="image.png"/>
          <p:cNvPicPr preferRelativeResize="0"/>
          <p:nvPr/>
        </p:nvPicPr>
        <p:blipFill rotWithShape="1">
          <a:blip r:embed="rId8">
            <a:alphaModFix/>
          </a:blip>
          <a:srcRect/>
          <a:stretch/>
        </p:blipFill>
        <p:spPr>
          <a:xfrm>
            <a:off x="571500" y="4748212"/>
            <a:ext cx="209550" cy="219075"/>
          </a:xfrm>
          <a:prstGeom prst="rect">
            <a:avLst/>
          </a:prstGeom>
          <a:noFill/>
          <a:ln>
            <a:noFill/>
          </a:ln>
        </p:spPr>
      </p:pic>
      <p:sp>
        <p:nvSpPr>
          <p:cNvPr id="158" name="Google Shape;158;p17"/>
          <p:cNvSpPr txBox="1"/>
          <p:nvPr/>
        </p:nvSpPr>
        <p:spPr>
          <a:xfrm>
            <a:off x="571500" y="57150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5088"/>
                </a:solidFill>
                <a:latin typeface="Merriweather"/>
                <a:ea typeface="Merriweather"/>
                <a:cs typeface="Merriweather"/>
                <a:sym typeface="Merriweather"/>
              </a:rPr>
              <a:t>4. Thiết Kế Sơ Đồ Khối Hệ Thống</a:t>
            </a:r>
            <a:endParaRPr/>
          </a:p>
        </p:txBody>
      </p:sp>
      <p:sp>
        <p:nvSpPr>
          <p:cNvPr id="159" name="Google Shape;159;p17"/>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A diagram of a relay&#10;&#10;AI-generated content may be incorrect.">
            <a:extLst>
              <a:ext uri="{FF2B5EF4-FFF2-40B4-BE49-F238E27FC236}">
                <a16:creationId xmlns:a16="http://schemas.microsoft.com/office/drawing/2014/main" id="{1C8ADD05-B21F-B0D2-20CE-9BB547223F7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86501" y="1976436"/>
            <a:ext cx="5334000" cy="381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63"/>
        <p:cNvGrpSpPr/>
        <p:nvPr/>
      </p:nvGrpSpPr>
      <p:grpSpPr>
        <a:xfrm>
          <a:off x="0" y="0"/>
          <a:ext cx="0" cy="0"/>
          <a:chOff x="0" y="0"/>
          <a:chExt cx="0" cy="0"/>
        </a:xfrm>
      </p:grpSpPr>
      <p:pic>
        <p:nvPicPr>
          <p:cNvPr id="164" name="Google Shape;164;p18" descr="image.png"/>
          <p:cNvPicPr preferRelativeResize="0"/>
          <p:nvPr/>
        </p:nvPicPr>
        <p:blipFill rotWithShape="1">
          <a:blip r:embed="rId3">
            <a:alphaModFix/>
          </a:blip>
          <a:srcRect/>
          <a:stretch/>
        </p:blipFill>
        <p:spPr>
          <a:xfrm>
            <a:off x="0" y="9832"/>
            <a:ext cx="12192000" cy="6858000"/>
          </a:xfrm>
          <a:prstGeom prst="rect">
            <a:avLst/>
          </a:prstGeom>
          <a:noFill/>
          <a:ln>
            <a:noFill/>
          </a:ln>
        </p:spPr>
      </p:pic>
      <p:sp>
        <p:nvSpPr>
          <p:cNvPr id="166" name="Google Shape;166;p18"/>
          <p:cNvSpPr txBox="1"/>
          <p:nvPr/>
        </p:nvSpPr>
        <p:spPr>
          <a:xfrm>
            <a:off x="300039" y="3788337"/>
            <a:ext cx="5700712"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dirty="0">
                <a:solidFill>
                  <a:srgbClr val="121212"/>
                </a:solidFill>
                <a:latin typeface="Merriweather"/>
                <a:ea typeface="Merriweather"/>
                <a:cs typeface="Merriweather"/>
                <a:sym typeface="Merriweather"/>
              </a:rPr>
              <a:t>DHT11 </a:t>
            </a:r>
            <a:endParaRPr dirty="0"/>
          </a:p>
        </p:txBody>
      </p:sp>
      <p:sp>
        <p:nvSpPr>
          <p:cNvPr id="172" name="Google Shape;172;p18"/>
          <p:cNvSpPr txBox="1"/>
          <p:nvPr/>
        </p:nvSpPr>
        <p:spPr>
          <a:xfrm>
            <a:off x="571500" y="57150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5088"/>
                </a:solidFill>
                <a:latin typeface="Merriweather"/>
                <a:ea typeface="Merriweather"/>
                <a:cs typeface="Merriweather"/>
                <a:sym typeface="Merriweather"/>
              </a:rPr>
              <a:t>5. Các Cảm Biến Tại Leaf Node</a:t>
            </a:r>
            <a:endParaRPr/>
          </a:p>
        </p:txBody>
      </p:sp>
      <p:sp>
        <p:nvSpPr>
          <p:cNvPr id="173" name="Google Shape;173;p18"/>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Google Shape;166;p18">
            <a:extLst>
              <a:ext uri="{FF2B5EF4-FFF2-40B4-BE49-F238E27FC236}">
                <a16:creationId xmlns:a16="http://schemas.microsoft.com/office/drawing/2014/main" id="{3976B10E-EDB9-6F19-B6E7-BD14FDEDBAE7}"/>
              </a:ext>
            </a:extLst>
          </p:cNvPr>
          <p:cNvSpPr txBox="1"/>
          <p:nvPr/>
        </p:nvSpPr>
        <p:spPr>
          <a:xfrm>
            <a:off x="6381751" y="3788337"/>
            <a:ext cx="5700712"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1404" b="1" dirty="0">
                <a:solidFill>
                  <a:srgbClr val="121212"/>
                </a:solidFill>
                <a:latin typeface="Merriweather"/>
                <a:ea typeface="Merriweather"/>
                <a:cs typeface="Merriweather"/>
                <a:sym typeface="Merriweather"/>
              </a:rPr>
              <a:t>LDR</a:t>
            </a:r>
            <a:r>
              <a:rPr lang="en-US" sz="1404" b="1" i="0" u="none" strike="noStrike" cap="none" dirty="0">
                <a:solidFill>
                  <a:srgbClr val="121212"/>
                </a:solidFill>
                <a:latin typeface="Merriweather"/>
                <a:ea typeface="Merriweather"/>
                <a:cs typeface="Merriweather"/>
                <a:sym typeface="Merriweather"/>
              </a:rPr>
              <a:t> </a:t>
            </a:r>
            <a:endParaRPr dirty="0"/>
          </a:p>
        </p:txBody>
      </p:sp>
      <p:sp>
        <p:nvSpPr>
          <p:cNvPr id="5" name="Google Shape;166;p18">
            <a:extLst>
              <a:ext uri="{FF2B5EF4-FFF2-40B4-BE49-F238E27FC236}">
                <a16:creationId xmlns:a16="http://schemas.microsoft.com/office/drawing/2014/main" id="{DC68A70D-41D0-F024-A0D2-9F68135D2B99}"/>
              </a:ext>
            </a:extLst>
          </p:cNvPr>
          <p:cNvSpPr txBox="1"/>
          <p:nvPr/>
        </p:nvSpPr>
        <p:spPr>
          <a:xfrm>
            <a:off x="3340895" y="6051599"/>
            <a:ext cx="5700712"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1404" b="1" dirty="0">
                <a:solidFill>
                  <a:srgbClr val="121212"/>
                </a:solidFill>
                <a:latin typeface="Merriweather"/>
                <a:sym typeface="Merriweather"/>
              </a:rPr>
              <a:t>PIR</a:t>
            </a:r>
            <a:endParaRPr dirty="0"/>
          </a:p>
        </p:txBody>
      </p:sp>
      <p:sp>
        <p:nvSpPr>
          <p:cNvPr id="6" name="AutoShape 2">
            <a:extLst>
              <a:ext uri="{FF2B5EF4-FFF2-40B4-BE49-F238E27FC236}">
                <a16:creationId xmlns:a16="http://schemas.microsoft.com/office/drawing/2014/main" id="{C53A7720-E1F6-3A3E-30D7-B80FDC62E03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C30A7B9D-21D2-9D08-11BC-41F92A3112B7}"/>
              </a:ext>
            </a:extLst>
          </p:cNvPr>
          <p:cNvPicPr>
            <a:picLocks noChangeAspect="1"/>
          </p:cNvPicPr>
          <p:nvPr/>
        </p:nvPicPr>
        <p:blipFill>
          <a:blip r:embed="rId4"/>
          <a:stretch>
            <a:fillRect/>
          </a:stretch>
        </p:blipFill>
        <p:spPr>
          <a:xfrm>
            <a:off x="5143503" y="3827743"/>
            <a:ext cx="2095496" cy="1989650"/>
          </a:xfrm>
          <a:prstGeom prst="rect">
            <a:avLst/>
          </a:prstGeom>
        </p:spPr>
      </p:pic>
      <p:pic>
        <p:nvPicPr>
          <p:cNvPr id="10" name="Picture 9">
            <a:extLst>
              <a:ext uri="{FF2B5EF4-FFF2-40B4-BE49-F238E27FC236}">
                <a16:creationId xmlns:a16="http://schemas.microsoft.com/office/drawing/2014/main" id="{A4B8CF07-BF87-8799-BE28-11A7E1ED790B}"/>
              </a:ext>
            </a:extLst>
          </p:cNvPr>
          <p:cNvPicPr>
            <a:picLocks noChangeAspect="1"/>
          </p:cNvPicPr>
          <p:nvPr/>
        </p:nvPicPr>
        <p:blipFill>
          <a:blip r:embed="rId5"/>
          <a:stretch>
            <a:fillRect/>
          </a:stretch>
        </p:blipFill>
        <p:spPr>
          <a:xfrm>
            <a:off x="2105258" y="1582688"/>
            <a:ext cx="2090274" cy="2090274"/>
          </a:xfrm>
          <a:prstGeom prst="rect">
            <a:avLst/>
          </a:prstGeom>
        </p:spPr>
      </p:pic>
      <p:pic>
        <p:nvPicPr>
          <p:cNvPr id="14" name="Picture 13">
            <a:extLst>
              <a:ext uri="{FF2B5EF4-FFF2-40B4-BE49-F238E27FC236}">
                <a16:creationId xmlns:a16="http://schemas.microsoft.com/office/drawing/2014/main" id="{7DBC508B-E3A4-CB87-3613-979ADDB35412}"/>
              </a:ext>
            </a:extLst>
          </p:cNvPr>
          <p:cNvPicPr>
            <a:picLocks noChangeAspect="1"/>
          </p:cNvPicPr>
          <p:nvPr/>
        </p:nvPicPr>
        <p:blipFill>
          <a:blip r:embed="rId6"/>
          <a:stretch>
            <a:fillRect/>
          </a:stretch>
        </p:blipFill>
        <p:spPr>
          <a:xfrm>
            <a:off x="8184547" y="1576041"/>
            <a:ext cx="2071305" cy="20713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77"/>
        <p:cNvGrpSpPr/>
        <p:nvPr/>
      </p:nvGrpSpPr>
      <p:grpSpPr>
        <a:xfrm>
          <a:off x="0" y="0"/>
          <a:ext cx="0" cy="0"/>
          <a:chOff x="0" y="0"/>
          <a:chExt cx="0" cy="0"/>
        </a:xfrm>
      </p:grpSpPr>
      <p:pic>
        <p:nvPicPr>
          <p:cNvPr id="178" name="Google Shape;178;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1" name="Google Shape;181;p19"/>
          <p:cNvSpPr txBox="1"/>
          <p:nvPr/>
        </p:nvSpPr>
        <p:spPr>
          <a:xfrm>
            <a:off x="904875" y="2833687"/>
            <a:ext cx="50006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Khởi tạo Mesh ID, Role và các cảm biến.</a:t>
            </a:r>
            <a:endParaRPr/>
          </a:p>
        </p:txBody>
      </p:sp>
      <p:sp>
        <p:nvSpPr>
          <p:cNvPr id="182" name="Google Shape;182;p19"/>
          <p:cNvSpPr txBox="1"/>
          <p:nvPr/>
        </p:nvSpPr>
        <p:spPr>
          <a:xfrm>
            <a:off x="904875" y="3281362"/>
            <a:ext cx="50006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Quét và chọn Parent có RSSI tốt nhất.</a:t>
            </a:r>
            <a:endParaRPr/>
          </a:p>
        </p:txBody>
      </p:sp>
      <p:sp>
        <p:nvSpPr>
          <p:cNvPr id="183" name="Google Shape;183;p19"/>
          <p:cNvSpPr txBox="1"/>
          <p:nvPr/>
        </p:nvSpPr>
        <p:spPr>
          <a:xfrm>
            <a:off x="904875" y="3729037"/>
            <a:ext cx="50006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Đọc dữ liệu định kỳ mỗi 5 giây.</a:t>
            </a:r>
            <a:endParaRPr/>
          </a:p>
        </p:txBody>
      </p:sp>
      <p:sp>
        <p:nvSpPr>
          <p:cNvPr id="184" name="Google Shape;184;p19"/>
          <p:cNvSpPr txBox="1"/>
          <p:nvPr/>
        </p:nvSpPr>
        <p:spPr>
          <a:xfrm>
            <a:off x="904875" y="4176712"/>
            <a:ext cx="50006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Đóng gói cấu trúc JSON (temp, humi, light, motion).</a:t>
            </a:r>
            <a:endParaRPr/>
          </a:p>
        </p:txBody>
      </p:sp>
      <p:sp>
        <p:nvSpPr>
          <p:cNvPr id="185" name="Google Shape;185;p19"/>
          <p:cNvSpPr txBox="1"/>
          <p:nvPr/>
        </p:nvSpPr>
        <p:spPr>
          <a:xfrm>
            <a:off x="904875" y="4624387"/>
            <a:ext cx="50006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3333"/>
                </a:solidFill>
                <a:latin typeface="DM Sans"/>
                <a:ea typeface="DM Sans"/>
                <a:cs typeface="DM Sans"/>
                <a:sym typeface="DM Sans"/>
              </a:rPr>
              <a:t>Gửi P2P lên Root Node thông qua mạng Mesh.</a:t>
            </a:r>
            <a:endParaRPr/>
          </a:p>
        </p:txBody>
      </p:sp>
      <p:pic>
        <p:nvPicPr>
          <p:cNvPr id="186" name="Google Shape;186;p19" descr="image.png"/>
          <p:cNvPicPr preferRelativeResize="0"/>
          <p:nvPr/>
        </p:nvPicPr>
        <p:blipFill rotWithShape="1">
          <a:blip r:embed="rId4">
            <a:alphaModFix/>
          </a:blip>
          <a:srcRect/>
          <a:stretch/>
        </p:blipFill>
        <p:spPr>
          <a:xfrm>
            <a:off x="571500" y="2876550"/>
            <a:ext cx="104775" cy="219075"/>
          </a:xfrm>
          <a:prstGeom prst="rect">
            <a:avLst/>
          </a:prstGeom>
          <a:noFill/>
          <a:ln>
            <a:noFill/>
          </a:ln>
        </p:spPr>
      </p:pic>
      <p:pic>
        <p:nvPicPr>
          <p:cNvPr id="187" name="Google Shape;187;p19" descr="image.png"/>
          <p:cNvPicPr preferRelativeResize="0"/>
          <p:nvPr/>
        </p:nvPicPr>
        <p:blipFill rotWithShape="1">
          <a:blip r:embed="rId5">
            <a:alphaModFix/>
          </a:blip>
          <a:srcRect/>
          <a:stretch/>
        </p:blipFill>
        <p:spPr>
          <a:xfrm>
            <a:off x="571500" y="3324225"/>
            <a:ext cx="133350" cy="219075"/>
          </a:xfrm>
          <a:prstGeom prst="rect">
            <a:avLst/>
          </a:prstGeom>
          <a:noFill/>
          <a:ln>
            <a:noFill/>
          </a:ln>
        </p:spPr>
      </p:pic>
      <p:pic>
        <p:nvPicPr>
          <p:cNvPr id="188" name="Google Shape;188;p19" descr="image.png"/>
          <p:cNvPicPr preferRelativeResize="0"/>
          <p:nvPr/>
        </p:nvPicPr>
        <p:blipFill rotWithShape="1">
          <a:blip r:embed="rId6">
            <a:alphaModFix/>
          </a:blip>
          <a:srcRect/>
          <a:stretch/>
        </p:blipFill>
        <p:spPr>
          <a:xfrm>
            <a:off x="571500" y="3771900"/>
            <a:ext cx="133350" cy="219075"/>
          </a:xfrm>
          <a:prstGeom prst="rect">
            <a:avLst/>
          </a:prstGeom>
          <a:noFill/>
          <a:ln>
            <a:noFill/>
          </a:ln>
        </p:spPr>
      </p:pic>
      <p:pic>
        <p:nvPicPr>
          <p:cNvPr id="189" name="Google Shape;189;p19" descr="image.png"/>
          <p:cNvPicPr preferRelativeResize="0"/>
          <p:nvPr/>
        </p:nvPicPr>
        <p:blipFill rotWithShape="1">
          <a:blip r:embed="rId7">
            <a:alphaModFix/>
          </a:blip>
          <a:srcRect/>
          <a:stretch/>
        </p:blipFill>
        <p:spPr>
          <a:xfrm>
            <a:off x="571500" y="4219575"/>
            <a:ext cx="161925" cy="219075"/>
          </a:xfrm>
          <a:prstGeom prst="rect">
            <a:avLst/>
          </a:prstGeom>
          <a:noFill/>
          <a:ln>
            <a:noFill/>
          </a:ln>
        </p:spPr>
      </p:pic>
      <p:pic>
        <p:nvPicPr>
          <p:cNvPr id="190" name="Google Shape;190;p19" descr="image.png"/>
          <p:cNvPicPr preferRelativeResize="0"/>
          <p:nvPr/>
        </p:nvPicPr>
        <p:blipFill rotWithShape="1">
          <a:blip r:embed="rId8">
            <a:alphaModFix/>
          </a:blip>
          <a:srcRect/>
          <a:stretch/>
        </p:blipFill>
        <p:spPr>
          <a:xfrm>
            <a:off x="571500" y="4667250"/>
            <a:ext cx="133350" cy="219075"/>
          </a:xfrm>
          <a:prstGeom prst="rect">
            <a:avLst/>
          </a:prstGeom>
          <a:noFill/>
          <a:ln>
            <a:noFill/>
          </a:ln>
        </p:spPr>
      </p:pic>
      <p:sp>
        <p:nvSpPr>
          <p:cNvPr id="191" name="Google Shape;191;p19"/>
          <p:cNvSpPr txBox="1"/>
          <p:nvPr/>
        </p:nvSpPr>
        <p:spPr>
          <a:xfrm>
            <a:off x="571500" y="57150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5088"/>
                </a:solidFill>
                <a:latin typeface="Merriweather"/>
                <a:ea typeface="Merriweather"/>
                <a:cs typeface="Merriweather"/>
                <a:sym typeface="Merriweather"/>
              </a:rPr>
              <a:t>6. Giải Thuật Phần Mềm Leaf Node</a:t>
            </a:r>
            <a:endParaRPr/>
          </a:p>
        </p:txBody>
      </p:sp>
      <p:sp>
        <p:nvSpPr>
          <p:cNvPr id="192" name="Google Shape;192;p19"/>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descr="A diagram of a tree&#10;&#10;AI-generated content may be incorrect.">
            <a:extLst>
              <a:ext uri="{FF2B5EF4-FFF2-40B4-BE49-F238E27FC236}">
                <a16:creationId xmlns:a16="http://schemas.microsoft.com/office/drawing/2014/main" id="{294AD2BF-A71C-F7DB-49E4-EDBCAFE077B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34100" y="1470920"/>
            <a:ext cx="5208905" cy="4730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96">
          <a:extLst>
            <a:ext uri="{FF2B5EF4-FFF2-40B4-BE49-F238E27FC236}">
              <a16:creationId xmlns:a16="http://schemas.microsoft.com/office/drawing/2014/main" id="{0A44E79F-38E1-3749-437A-DF794C399BA9}"/>
            </a:ext>
          </a:extLst>
        </p:cNvPr>
        <p:cNvGrpSpPr/>
        <p:nvPr/>
      </p:nvGrpSpPr>
      <p:grpSpPr>
        <a:xfrm>
          <a:off x="0" y="0"/>
          <a:ext cx="0" cy="0"/>
          <a:chOff x="0" y="0"/>
          <a:chExt cx="0" cy="0"/>
        </a:xfrm>
      </p:grpSpPr>
      <p:pic>
        <p:nvPicPr>
          <p:cNvPr id="197" name="Google Shape;197;p20" descr="image.png">
            <a:extLst>
              <a:ext uri="{FF2B5EF4-FFF2-40B4-BE49-F238E27FC236}">
                <a16:creationId xmlns:a16="http://schemas.microsoft.com/office/drawing/2014/main" id="{3D53A972-062D-D36D-EF8C-41CE27CF663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8" name="Google Shape;198;p20" descr="image.png">
            <a:extLst>
              <a:ext uri="{FF2B5EF4-FFF2-40B4-BE49-F238E27FC236}">
                <a16:creationId xmlns:a16="http://schemas.microsoft.com/office/drawing/2014/main" id="{920278B1-7A35-644B-F72F-00F99152B150}"/>
              </a:ext>
            </a:extLst>
          </p:cNvPr>
          <p:cNvPicPr preferRelativeResize="0"/>
          <p:nvPr/>
        </p:nvPicPr>
        <p:blipFill rotWithShape="1">
          <a:blip r:embed="rId4">
            <a:alphaModFix/>
          </a:blip>
          <a:srcRect/>
          <a:stretch/>
        </p:blipFill>
        <p:spPr>
          <a:xfrm>
            <a:off x="609600" y="1412082"/>
            <a:ext cx="11010900" cy="1082846"/>
          </a:xfrm>
          <a:prstGeom prst="rect">
            <a:avLst/>
          </a:prstGeom>
          <a:noFill/>
          <a:ln>
            <a:noFill/>
          </a:ln>
        </p:spPr>
      </p:pic>
      <p:sp>
        <p:nvSpPr>
          <p:cNvPr id="200" name="Google Shape;200;p20">
            <a:extLst>
              <a:ext uri="{FF2B5EF4-FFF2-40B4-BE49-F238E27FC236}">
                <a16:creationId xmlns:a16="http://schemas.microsoft.com/office/drawing/2014/main" id="{81D374F7-3855-D434-1B65-76AA517B14DC}"/>
              </a:ext>
            </a:extLst>
          </p:cNvPr>
          <p:cNvSpPr txBox="1"/>
          <p:nvPr/>
        </p:nvSpPr>
        <p:spPr>
          <a:xfrm>
            <a:off x="885825" y="1602888"/>
            <a:ext cx="502062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121212"/>
                </a:solidFill>
                <a:latin typeface="Merriweather"/>
                <a:ea typeface="Merriweather"/>
                <a:cs typeface="Merriweather"/>
                <a:sym typeface="Merriweather"/>
              </a:rPr>
              <a:t>Relay Node</a:t>
            </a:r>
            <a:endParaRPr dirty="0"/>
          </a:p>
        </p:txBody>
      </p:sp>
      <p:sp>
        <p:nvSpPr>
          <p:cNvPr id="201" name="Google Shape;201;p20">
            <a:extLst>
              <a:ext uri="{FF2B5EF4-FFF2-40B4-BE49-F238E27FC236}">
                <a16:creationId xmlns:a16="http://schemas.microsoft.com/office/drawing/2014/main" id="{A2FD2C0F-332E-3A8D-A1CC-D2C3F4E670B6}"/>
              </a:ext>
            </a:extLst>
          </p:cNvPr>
          <p:cNvSpPr txBox="1"/>
          <p:nvPr/>
        </p:nvSpPr>
        <p:spPr>
          <a:xfrm>
            <a:off x="885824" y="1950243"/>
            <a:ext cx="9025091"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err="1">
                <a:solidFill>
                  <a:srgbClr val="333333"/>
                </a:solidFill>
                <a:latin typeface="DM Sans"/>
                <a:ea typeface="DM Sans"/>
                <a:cs typeface="DM Sans"/>
                <a:sym typeface="DM Sans"/>
              </a:rPr>
              <a:t>Lắng</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nghe</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và</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nhận</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gói</a:t>
            </a:r>
            <a:r>
              <a:rPr lang="en-US" sz="1500" b="0" i="0" u="none" strike="noStrike" cap="none" dirty="0">
                <a:solidFill>
                  <a:srgbClr val="333333"/>
                </a:solidFill>
                <a:latin typeface="DM Sans"/>
                <a:ea typeface="DM Sans"/>
                <a:cs typeface="DM Sans"/>
                <a:sym typeface="DM Sans"/>
              </a:rPr>
              <a:t> JSON </a:t>
            </a:r>
            <a:r>
              <a:rPr lang="en-US" sz="1500" b="0" i="0" u="none" strike="noStrike" cap="none" dirty="0" err="1">
                <a:solidFill>
                  <a:srgbClr val="333333"/>
                </a:solidFill>
                <a:latin typeface="DM Sans"/>
                <a:ea typeface="DM Sans"/>
                <a:cs typeface="DM Sans"/>
                <a:sym typeface="DM Sans"/>
              </a:rPr>
              <a:t>từ</a:t>
            </a:r>
            <a:r>
              <a:rPr lang="en-US" sz="1500" b="0" i="0" u="none" strike="noStrike" cap="none" dirty="0">
                <a:solidFill>
                  <a:srgbClr val="333333"/>
                </a:solidFill>
                <a:latin typeface="DM Sans"/>
                <a:ea typeface="DM Sans"/>
                <a:cs typeface="DM Sans"/>
                <a:sym typeface="DM Sans"/>
              </a:rPr>
              <a:t> Child Node. </a:t>
            </a:r>
            <a:r>
              <a:rPr lang="en-US" sz="1500" b="0" i="0" u="none" strike="noStrike" cap="none" dirty="0" err="1">
                <a:solidFill>
                  <a:srgbClr val="333333"/>
                </a:solidFill>
                <a:latin typeface="DM Sans"/>
                <a:ea typeface="DM Sans"/>
                <a:cs typeface="DM Sans"/>
                <a:sym typeface="DM Sans"/>
              </a:rPr>
              <a:t>Tự</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động</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định</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tuyến</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gửi</a:t>
            </a:r>
            <a:r>
              <a:rPr lang="en-US" sz="1500" b="0" i="0" u="none" strike="noStrike" cap="none" dirty="0">
                <a:solidFill>
                  <a:srgbClr val="333333"/>
                </a:solidFill>
                <a:latin typeface="DM Sans"/>
                <a:ea typeface="DM Sans"/>
                <a:cs typeface="DM Sans"/>
                <a:sym typeface="DM Sans"/>
              </a:rPr>
              <a:t> Upstream </a:t>
            </a:r>
            <a:r>
              <a:rPr lang="en-US" sz="1500" b="0" i="0" u="none" strike="noStrike" cap="none" dirty="0" err="1">
                <a:solidFill>
                  <a:srgbClr val="333333"/>
                </a:solidFill>
                <a:latin typeface="DM Sans"/>
                <a:ea typeface="DM Sans"/>
                <a:cs typeface="DM Sans"/>
                <a:sym typeface="DM Sans"/>
              </a:rPr>
              <a:t>lên</a:t>
            </a:r>
            <a:r>
              <a:rPr lang="en-US" sz="1500" b="0" i="0" u="none" strike="noStrike" cap="none" dirty="0">
                <a:solidFill>
                  <a:srgbClr val="333333"/>
                </a:solidFill>
                <a:latin typeface="DM Sans"/>
                <a:ea typeface="DM Sans"/>
                <a:cs typeface="DM Sans"/>
                <a:sym typeface="DM Sans"/>
              </a:rPr>
              <a:t> Root Node.</a:t>
            </a:r>
            <a:endParaRPr dirty="0"/>
          </a:p>
        </p:txBody>
      </p:sp>
      <p:sp>
        <p:nvSpPr>
          <p:cNvPr id="204" name="Google Shape;204;p20">
            <a:extLst>
              <a:ext uri="{FF2B5EF4-FFF2-40B4-BE49-F238E27FC236}">
                <a16:creationId xmlns:a16="http://schemas.microsoft.com/office/drawing/2014/main" id="{72D8436B-618E-1D13-EC9B-6FA4D1A912BD}"/>
              </a:ext>
            </a:extLst>
          </p:cNvPr>
          <p:cNvSpPr txBox="1"/>
          <p:nvPr/>
        </p:nvSpPr>
        <p:spPr>
          <a:xfrm>
            <a:off x="571500" y="527446"/>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5088"/>
                </a:solidFill>
                <a:latin typeface="Merriweather"/>
                <a:ea typeface="Merriweather"/>
                <a:cs typeface="Merriweather"/>
                <a:sym typeface="Merriweather"/>
              </a:rPr>
              <a:t>7. </a:t>
            </a:r>
            <a:r>
              <a:rPr lang="en-US" sz="3150" b="1" i="0" u="none" strike="noStrike" cap="none" dirty="0" err="1">
                <a:solidFill>
                  <a:srgbClr val="005088"/>
                </a:solidFill>
                <a:latin typeface="Merriweather"/>
                <a:ea typeface="Merriweather"/>
                <a:cs typeface="Merriweather"/>
                <a:sym typeface="Merriweather"/>
              </a:rPr>
              <a:t>Giải</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Thuật</a:t>
            </a:r>
            <a:r>
              <a:rPr lang="en-US" sz="3150" b="1" i="0" u="none" strike="noStrike" cap="none" dirty="0">
                <a:solidFill>
                  <a:srgbClr val="005088"/>
                </a:solidFill>
                <a:latin typeface="Merriweather"/>
                <a:ea typeface="Merriweather"/>
                <a:cs typeface="Merriweather"/>
                <a:sym typeface="Merriweather"/>
              </a:rPr>
              <a:t> Relay</a:t>
            </a:r>
            <a:r>
              <a:rPr lang="vi-VN" sz="3150" b="1" i="0" u="none" strike="noStrike" cap="none" dirty="0">
                <a:solidFill>
                  <a:srgbClr val="005088"/>
                </a:solidFill>
                <a:latin typeface="Merriweather"/>
                <a:ea typeface="Merriweather"/>
                <a:cs typeface="Merriweather"/>
                <a:sym typeface="Merriweather"/>
              </a:rPr>
              <a:t> Node</a:t>
            </a:r>
            <a:endParaRPr dirty="0"/>
          </a:p>
        </p:txBody>
      </p:sp>
      <p:sp>
        <p:nvSpPr>
          <p:cNvPr id="205" name="Google Shape;205;p20">
            <a:extLst>
              <a:ext uri="{FF2B5EF4-FFF2-40B4-BE49-F238E27FC236}">
                <a16:creationId xmlns:a16="http://schemas.microsoft.com/office/drawing/2014/main" id="{3B13F719-C63C-121B-8849-18706BFE4A78}"/>
              </a:ext>
            </a:extLst>
          </p:cNvPr>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descr="A diagram of a child&#10;&#10;AI-generated content may be incorrect.">
            <a:extLst>
              <a:ext uri="{FF2B5EF4-FFF2-40B4-BE49-F238E27FC236}">
                <a16:creationId xmlns:a16="http://schemas.microsoft.com/office/drawing/2014/main" id="{D3C86CCB-2B45-F53C-6456-F0478DD0A6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32810" y="2623191"/>
            <a:ext cx="5326380" cy="4106545"/>
          </a:xfrm>
          <a:prstGeom prst="rect">
            <a:avLst/>
          </a:prstGeom>
        </p:spPr>
      </p:pic>
    </p:spTree>
    <p:extLst>
      <p:ext uri="{BB962C8B-B14F-4D97-AF65-F5344CB8AC3E}">
        <p14:creationId xmlns:p14="http://schemas.microsoft.com/office/powerpoint/2010/main" val="1620364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96"/>
        <p:cNvGrpSpPr/>
        <p:nvPr/>
      </p:nvGrpSpPr>
      <p:grpSpPr>
        <a:xfrm>
          <a:off x="0" y="0"/>
          <a:ext cx="0" cy="0"/>
          <a:chOff x="0" y="0"/>
          <a:chExt cx="0" cy="0"/>
        </a:xfrm>
      </p:grpSpPr>
      <p:pic>
        <p:nvPicPr>
          <p:cNvPr id="197" name="Google Shape;197;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9" name="Google Shape;199;p20" descr="image.png"/>
          <p:cNvPicPr preferRelativeResize="0"/>
          <p:nvPr/>
        </p:nvPicPr>
        <p:blipFill rotWithShape="1">
          <a:blip r:embed="rId4">
            <a:alphaModFix/>
          </a:blip>
          <a:srcRect/>
          <a:stretch/>
        </p:blipFill>
        <p:spPr>
          <a:xfrm>
            <a:off x="572450" y="1447801"/>
            <a:ext cx="11048049" cy="814853"/>
          </a:xfrm>
          <a:prstGeom prst="rect">
            <a:avLst/>
          </a:prstGeom>
          <a:noFill/>
          <a:ln>
            <a:noFill/>
          </a:ln>
        </p:spPr>
      </p:pic>
      <p:sp>
        <p:nvSpPr>
          <p:cNvPr id="202" name="Google Shape;202;p20"/>
          <p:cNvSpPr txBox="1"/>
          <p:nvPr/>
        </p:nvSpPr>
        <p:spPr>
          <a:xfrm>
            <a:off x="885824" y="1527571"/>
            <a:ext cx="502062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121212"/>
                </a:solidFill>
                <a:latin typeface="Merriweather"/>
                <a:ea typeface="Merriweather"/>
                <a:cs typeface="Merriweather"/>
                <a:sym typeface="Merriweather"/>
              </a:rPr>
              <a:t>Root Node (Gateway)</a:t>
            </a:r>
            <a:endParaRPr dirty="0"/>
          </a:p>
        </p:txBody>
      </p:sp>
      <p:sp>
        <p:nvSpPr>
          <p:cNvPr id="203" name="Google Shape;203;p20"/>
          <p:cNvSpPr txBox="1"/>
          <p:nvPr/>
        </p:nvSpPr>
        <p:spPr>
          <a:xfrm>
            <a:off x="885823" y="1666875"/>
            <a:ext cx="8081195"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err="1">
                <a:solidFill>
                  <a:srgbClr val="333333"/>
                </a:solidFill>
                <a:latin typeface="DM Sans"/>
                <a:ea typeface="DM Sans"/>
                <a:cs typeface="DM Sans"/>
                <a:sym typeface="DM Sans"/>
              </a:rPr>
              <a:t>Nhận</a:t>
            </a:r>
            <a:r>
              <a:rPr lang="en-US" sz="1500" b="0" i="0" u="none" strike="noStrike" cap="none" dirty="0">
                <a:solidFill>
                  <a:srgbClr val="333333"/>
                </a:solidFill>
                <a:latin typeface="DM Sans"/>
                <a:ea typeface="DM Sans"/>
                <a:cs typeface="DM Sans"/>
                <a:sym typeface="DM Sans"/>
              </a:rPr>
              <a:t> IP </a:t>
            </a:r>
            <a:r>
              <a:rPr lang="en-US" sz="1500" b="0" i="0" u="none" strike="noStrike" cap="none" dirty="0" err="1">
                <a:solidFill>
                  <a:srgbClr val="333333"/>
                </a:solidFill>
                <a:latin typeface="DM Sans"/>
                <a:ea typeface="DM Sans"/>
                <a:cs typeface="DM Sans"/>
                <a:sym typeface="DM Sans"/>
              </a:rPr>
              <a:t>từ</a:t>
            </a:r>
            <a:r>
              <a:rPr lang="en-US" sz="1500" b="0" i="0" u="none" strike="noStrike" cap="none" dirty="0">
                <a:solidFill>
                  <a:srgbClr val="333333"/>
                </a:solidFill>
                <a:latin typeface="DM Sans"/>
                <a:ea typeface="DM Sans"/>
                <a:cs typeface="DM Sans"/>
                <a:sym typeface="DM Sans"/>
              </a:rPr>
              <a:t> Router qua DHCP. </a:t>
            </a:r>
            <a:r>
              <a:rPr lang="en-US" sz="1500" b="0" i="0" u="none" strike="noStrike" cap="none" dirty="0" err="1">
                <a:solidFill>
                  <a:srgbClr val="333333"/>
                </a:solidFill>
                <a:latin typeface="DM Sans"/>
                <a:ea typeface="DM Sans"/>
                <a:cs typeface="DM Sans"/>
                <a:sym typeface="DM Sans"/>
              </a:rPr>
              <a:t>Kết</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nối</a:t>
            </a:r>
            <a:r>
              <a:rPr lang="en-US" sz="1500" b="0" i="0" u="none" strike="noStrike" cap="none" dirty="0">
                <a:solidFill>
                  <a:srgbClr val="333333"/>
                </a:solidFill>
                <a:latin typeface="DM Sans"/>
                <a:ea typeface="DM Sans"/>
                <a:cs typeface="DM Sans"/>
                <a:sym typeface="DM Sans"/>
              </a:rPr>
              <a:t> MQTT Broker. </a:t>
            </a:r>
            <a:r>
              <a:rPr lang="en-US" sz="1500" b="0" i="0" u="none" strike="noStrike" cap="none" dirty="0" err="1">
                <a:solidFill>
                  <a:srgbClr val="333333"/>
                </a:solidFill>
                <a:latin typeface="DM Sans"/>
                <a:ea typeface="DM Sans"/>
                <a:cs typeface="DM Sans"/>
                <a:sym typeface="DM Sans"/>
              </a:rPr>
              <a:t>Chuyển</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dữ</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liệu</a:t>
            </a:r>
            <a:r>
              <a:rPr lang="en-US" sz="1500" b="0" i="0" u="none" strike="noStrike" cap="none" dirty="0">
                <a:solidFill>
                  <a:srgbClr val="333333"/>
                </a:solidFill>
                <a:latin typeface="DM Sans"/>
                <a:ea typeface="DM Sans"/>
                <a:cs typeface="DM Sans"/>
                <a:sym typeface="DM Sans"/>
              </a:rPr>
              <a:t> Mesh sang MQTT Publish.</a:t>
            </a:r>
            <a:endParaRPr dirty="0"/>
          </a:p>
        </p:txBody>
      </p:sp>
      <p:sp>
        <p:nvSpPr>
          <p:cNvPr id="204" name="Google Shape;204;p20"/>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150" b="1" dirty="0">
                <a:solidFill>
                  <a:srgbClr val="005088"/>
                </a:solidFill>
                <a:latin typeface="Merriweather"/>
                <a:ea typeface="Merriweather"/>
                <a:cs typeface="Merriweather"/>
                <a:sym typeface="Merriweather"/>
              </a:rPr>
              <a:t>8</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Giải</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Thuật</a:t>
            </a:r>
            <a:r>
              <a:rPr lang="en-US" sz="3150" b="1" i="0" u="none" strike="noStrike" cap="none" dirty="0">
                <a:solidFill>
                  <a:srgbClr val="005088"/>
                </a:solidFill>
                <a:latin typeface="Merriweather"/>
                <a:ea typeface="Merriweather"/>
                <a:cs typeface="Merriweather"/>
                <a:sym typeface="Merriweather"/>
              </a:rPr>
              <a:t> Root Node</a:t>
            </a:r>
            <a:endParaRPr dirty="0"/>
          </a:p>
        </p:txBody>
      </p:sp>
      <p:sp>
        <p:nvSpPr>
          <p:cNvPr id="205" name="Google Shape;205;p20"/>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A diagram of a flowchart&#10;&#10;AI-generated content may be incorrect.">
            <a:extLst>
              <a:ext uri="{FF2B5EF4-FFF2-40B4-BE49-F238E27FC236}">
                <a16:creationId xmlns:a16="http://schemas.microsoft.com/office/drawing/2014/main" id="{6747D379-81A0-55B3-F6D3-8F45E34E72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4748" y="2481728"/>
            <a:ext cx="4876800" cy="37731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09"/>
        <p:cNvGrpSpPr/>
        <p:nvPr/>
      </p:nvGrpSpPr>
      <p:grpSpPr>
        <a:xfrm>
          <a:off x="0" y="0"/>
          <a:ext cx="0" cy="0"/>
          <a:chOff x="0" y="0"/>
          <a:chExt cx="0" cy="0"/>
        </a:xfrm>
      </p:grpSpPr>
      <p:pic>
        <p:nvPicPr>
          <p:cNvPr id="210" name="Google Shape;210;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1" name="Google Shape;211;p21"/>
          <p:cNvSpPr txBox="1"/>
          <p:nvPr/>
        </p:nvSpPr>
        <p:spPr>
          <a:xfrm>
            <a:off x="571500" y="2286000"/>
            <a:ext cx="1160145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121212"/>
                </a:solidFill>
                <a:latin typeface="Merriweather"/>
                <a:ea typeface="Merriweather"/>
                <a:cs typeface="Merriweather"/>
                <a:sym typeface="Merriweather"/>
              </a:rPr>
              <a:t>Đánh giá chất lượng tín hiệu RSSI</a:t>
            </a:r>
            <a:endParaRPr/>
          </a:p>
        </p:txBody>
      </p:sp>
      <p:graphicFrame>
        <p:nvGraphicFramePr>
          <p:cNvPr id="212" name="Google Shape;212;p21"/>
          <p:cNvGraphicFramePr/>
          <p:nvPr/>
        </p:nvGraphicFramePr>
        <p:xfrm>
          <a:off x="571500" y="2505075"/>
          <a:ext cx="11049000" cy="2971750"/>
        </p:xfrm>
        <a:graphic>
          <a:graphicData uri="http://schemas.openxmlformats.org/drawingml/2006/table">
            <a:tbl>
              <a:tblPr firstRow="1" bandRow="1">
                <a:noFill/>
                <a:tableStyleId>{C74ADA79-A1E6-43DD-BC49-39F52E78A72E}</a:tableStyleId>
              </a:tblPr>
              <a:tblGrid>
                <a:gridCol w="2830275">
                  <a:extLst>
                    <a:ext uri="{9D8B030D-6E8A-4147-A177-3AD203B41FA5}">
                      <a16:colId xmlns:a16="http://schemas.microsoft.com/office/drawing/2014/main" val="20000"/>
                    </a:ext>
                  </a:extLst>
                </a:gridCol>
                <a:gridCol w="2110225">
                  <a:extLst>
                    <a:ext uri="{9D8B030D-6E8A-4147-A177-3AD203B41FA5}">
                      <a16:colId xmlns:a16="http://schemas.microsoft.com/office/drawing/2014/main" val="20001"/>
                    </a:ext>
                  </a:extLst>
                </a:gridCol>
                <a:gridCol w="2757625">
                  <a:extLst>
                    <a:ext uri="{9D8B030D-6E8A-4147-A177-3AD203B41FA5}">
                      <a16:colId xmlns:a16="http://schemas.microsoft.com/office/drawing/2014/main" val="20002"/>
                    </a:ext>
                  </a:extLst>
                </a:gridCol>
                <a:gridCol w="3350875">
                  <a:extLst>
                    <a:ext uri="{9D8B030D-6E8A-4147-A177-3AD203B41FA5}">
                      <a16:colId xmlns:a16="http://schemas.microsoft.com/office/drawing/2014/main" val="20003"/>
                    </a:ext>
                  </a:extLst>
                </a:gridCol>
              </a:tblGrid>
              <a:tr h="594350">
                <a:tc>
                  <a:txBody>
                    <a:bodyPr/>
                    <a:lstStyle/>
                    <a:p>
                      <a:pPr marL="0" marR="0" lvl="0" indent="0" algn="l" rtl="0">
                        <a:spcBef>
                          <a:spcPts val="0"/>
                        </a:spcBef>
                        <a:spcAft>
                          <a:spcPts val="0"/>
                        </a:spcAft>
                        <a:buNone/>
                      </a:pPr>
                      <a:r>
                        <a:rPr lang="en-US" sz="1650" b="1" i="0" u="none" strike="noStrike" cap="none">
                          <a:solidFill>
                            <a:srgbClr val="FFFFFF"/>
                          </a:solidFill>
                          <a:latin typeface="DM Sans"/>
                          <a:ea typeface="DM Sans"/>
                          <a:cs typeface="DM Sans"/>
                          <a:sym typeface="DM Sans"/>
                        </a:rPr>
                        <a:t>Cường độ (RSSI)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l" rtl="0">
                        <a:spcBef>
                          <a:spcPts val="0"/>
                        </a:spcBef>
                        <a:spcAft>
                          <a:spcPts val="0"/>
                        </a:spcAft>
                        <a:buNone/>
                      </a:pPr>
                      <a:r>
                        <a:rPr lang="en-US" sz="1650" b="1" i="0" u="none" strike="noStrike" cap="none">
                          <a:solidFill>
                            <a:srgbClr val="FFFFFF"/>
                          </a:solidFill>
                          <a:latin typeface="DM Sans"/>
                          <a:ea typeface="DM Sans"/>
                          <a:cs typeface="DM Sans"/>
                          <a:sym typeface="DM Sans"/>
                        </a:rPr>
                        <a:t>Chất lượng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l" rtl="0">
                        <a:spcBef>
                          <a:spcPts val="0"/>
                        </a:spcBef>
                        <a:spcAft>
                          <a:spcPts val="0"/>
                        </a:spcAft>
                        <a:buNone/>
                      </a:pPr>
                      <a:r>
                        <a:rPr lang="en-US" sz="1650" b="1" i="0" u="none" strike="noStrike" cap="none">
                          <a:solidFill>
                            <a:srgbClr val="FFFFFF"/>
                          </a:solidFill>
                          <a:latin typeface="DM Sans"/>
                          <a:ea typeface="DM Sans"/>
                          <a:cs typeface="DM Sans"/>
                          <a:sym typeface="DM Sans"/>
                        </a:rPr>
                        <a:t>Tốc độ ước tính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l" rtl="0">
                        <a:spcBef>
                          <a:spcPts val="0"/>
                        </a:spcBef>
                        <a:spcAft>
                          <a:spcPts val="0"/>
                        </a:spcAft>
                        <a:buNone/>
                      </a:pPr>
                      <a:r>
                        <a:rPr lang="en-US" sz="1650" b="1" i="0" u="none" strike="noStrike" cap="none">
                          <a:solidFill>
                            <a:srgbClr val="FFFFFF"/>
                          </a:solidFill>
                          <a:latin typeface="DM Sans"/>
                          <a:ea typeface="DM Sans"/>
                          <a:cs typeface="DM Sans"/>
                          <a:sym typeface="DM Sans"/>
                        </a:rPr>
                        <a:t>Dịch vụ khuyến nghị</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extLst>
                  <a:ext uri="{0D108BD9-81ED-4DB2-BD59-A6C34878D82A}">
                    <a16:rowId xmlns:a16="http://schemas.microsoft.com/office/drawing/2014/main" val="10000"/>
                  </a:ext>
                </a:extLst>
              </a:tr>
              <a:tr h="594350">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&gt; -60 dBm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Rất Tốt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80% - 100%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Voice, Video, Web</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94350">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-61 đến -70 dBm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Bình thường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60%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Web, Mail, IoT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94350">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-71 đến -80 dBm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Yếu</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40%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Basic Data Transfer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94350">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&lt; -80 dBm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Rất yếu</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N/A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21212"/>
                          </a:solidFill>
                          <a:latin typeface="DM Sans"/>
                          <a:ea typeface="DM Sans"/>
                          <a:cs typeface="DM Sans"/>
                          <a:sym typeface="DM Sans"/>
                        </a:rPr>
                        <a:t>Không ổn định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13" name="Google Shape;213;p21"/>
          <p:cNvSpPr/>
          <p:nvPr/>
        </p:nvSpPr>
        <p:spPr>
          <a:xfrm>
            <a:off x="571500" y="3729037"/>
            <a:ext cx="28302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21"/>
          <p:cNvSpPr/>
          <p:nvPr/>
        </p:nvSpPr>
        <p:spPr>
          <a:xfrm>
            <a:off x="3401764" y="3729037"/>
            <a:ext cx="211023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1"/>
          <p:cNvSpPr/>
          <p:nvPr/>
        </p:nvSpPr>
        <p:spPr>
          <a:xfrm>
            <a:off x="5511998" y="3729037"/>
            <a:ext cx="275763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1"/>
          <p:cNvSpPr/>
          <p:nvPr/>
        </p:nvSpPr>
        <p:spPr>
          <a:xfrm>
            <a:off x="8269634" y="3729037"/>
            <a:ext cx="33508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1"/>
          <p:cNvSpPr/>
          <p:nvPr/>
        </p:nvSpPr>
        <p:spPr>
          <a:xfrm>
            <a:off x="571500" y="4310062"/>
            <a:ext cx="28302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21"/>
          <p:cNvSpPr/>
          <p:nvPr/>
        </p:nvSpPr>
        <p:spPr>
          <a:xfrm>
            <a:off x="3401764" y="4310062"/>
            <a:ext cx="211023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9" name="Google Shape;219;p21"/>
          <p:cNvSpPr/>
          <p:nvPr/>
        </p:nvSpPr>
        <p:spPr>
          <a:xfrm>
            <a:off x="5511998" y="4310062"/>
            <a:ext cx="275763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21"/>
          <p:cNvSpPr/>
          <p:nvPr/>
        </p:nvSpPr>
        <p:spPr>
          <a:xfrm>
            <a:off x="8269634" y="4310062"/>
            <a:ext cx="33508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21"/>
          <p:cNvSpPr/>
          <p:nvPr/>
        </p:nvSpPr>
        <p:spPr>
          <a:xfrm>
            <a:off x="571500" y="4891087"/>
            <a:ext cx="283026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21"/>
          <p:cNvSpPr/>
          <p:nvPr/>
        </p:nvSpPr>
        <p:spPr>
          <a:xfrm>
            <a:off x="3401764" y="4891087"/>
            <a:ext cx="211023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21"/>
          <p:cNvSpPr/>
          <p:nvPr/>
        </p:nvSpPr>
        <p:spPr>
          <a:xfrm>
            <a:off x="5511998" y="4891087"/>
            <a:ext cx="275763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21"/>
          <p:cNvSpPr/>
          <p:nvPr/>
        </p:nvSpPr>
        <p:spPr>
          <a:xfrm>
            <a:off x="8269634" y="4891087"/>
            <a:ext cx="335086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21"/>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150" b="1" dirty="0">
                <a:solidFill>
                  <a:srgbClr val="005088"/>
                </a:solidFill>
                <a:latin typeface="Merriweather"/>
                <a:ea typeface="Merriweather"/>
                <a:cs typeface="Merriweather"/>
                <a:sym typeface="Merriweather"/>
              </a:rPr>
              <a:t>9</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Kết</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Quả</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Kiểm</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Thử</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Kết</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Nối</a:t>
            </a:r>
            <a:endParaRPr dirty="0"/>
          </a:p>
        </p:txBody>
      </p:sp>
      <p:sp>
        <p:nvSpPr>
          <p:cNvPr id="226" name="Google Shape;226;p21"/>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30"/>
        <p:cNvGrpSpPr/>
        <p:nvPr/>
      </p:nvGrpSpPr>
      <p:grpSpPr>
        <a:xfrm>
          <a:off x="0" y="0"/>
          <a:ext cx="0" cy="0"/>
          <a:chOff x="0" y="0"/>
          <a:chExt cx="0" cy="0"/>
        </a:xfrm>
      </p:grpSpPr>
      <p:pic>
        <p:nvPicPr>
          <p:cNvPr id="231" name="Google Shape;231;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4" name="Google Shape;234;p22"/>
          <p:cNvSpPr txBox="1"/>
          <p:nvPr/>
        </p:nvSpPr>
        <p:spPr>
          <a:xfrm>
            <a:off x="973701" y="1323898"/>
            <a:ext cx="7029757"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3333"/>
                </a:solidFill>
                <a:latin typeface="DM Sans"/>
                <a:ea typeface="DM Sans"/>
                <a:cs typeface="DM Sans"/>
                <a:sym typeface="DM Sans"/>
              </a:rPr>
              <a:t>Tại</a:t>
            </a:r>
            <a:r>
              <a:rPr lang="en-US" sz="1500" b="1" i="0" u="none" strike="noStrike" cap="none" dirty="0">
                <a:solidFill>
                  <a:srgbClr val="333333"/>
                </a:solidFill>
                <a:latin typeface="DM Sans"/>
                <a:ea typeface="DM Sans"/>
                <a:cs typeface="DM Sans"/>
                <a:sym typeface="DM Sans"/>
              </a:rPr>
              <a:t> Leaf Node:</a:t>
            </a:r>
            <a:r>
              <a:rPr lang="en-US" sz="1500" b="0" i="0" u="none" strike="noStrike" cap="none" dirty="0">
                <a:solidFill>
                  <a:srgbClr val="333333"/>
                </a:solidFill>
                <a:latin typeface="DM Sans"/>
                <a:ea typeface="DM Sans"/>
                <a:cs typeface="DM Sans"/>
                <a:sym typeface="DM Sans"/>
              </a:rPr>
              <a:t> Hiển </a:t>
            </a:r>
            <a:r>
              <a:rPr lang="en-US" sz="1500" b="0" i="0" u="none" strike="noStrike" cap="none" dirty="0" err="1">
                <a:solidFill>
                  <a:srgbClr val="333333"/>
                </a:solidFill>
                <a:latin typeface="DM Sans"/>
                <a:ea typeface="DM Sans"/>
                <a:cs typeface="DM Sans"/>
                <a:sym typeface="DM Sans"/>
              </a:rPr>
              <a:t>thị</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đầy</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đủ</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thông</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số</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môi</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trường</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lên</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màn</a:t>
            </a:r>
            <a:r>
              <a:rPr lang="en-US" sz="1500" b="0" i="0" u="none" strike="noStrike" cap="none" dirty="0">
                <a:solidFill>
                  <a:srgbClr val="333333"/>
                </a:solidFill>
                <a:latin typeface="DM Sans"/>
                <a:ea typeface="DM Sans"/>
                <a:cs typeface="DM Sans"/>
                <a:sym typeface="DM Sans"/>
              </a:rPr>
              <a:t> </a:t>
            </a:r>
            <a:r>
              <a:rPr lang="en-US" sz="1500" b="0" i="0" u="none" strike="noStrike" cap="none" dirty="0" err="1">
                <a:solidFill>
                  <a:srgbClr val="333333"/>
                </a:solidFill>
                <a:latin typeface="DM Sans"/>
                <a:ea typeface="DM Sans"/>
                <a:cs typeface="DM Sans"/>
                <a:sym typeface="DM Sans"/>
              </a:rPr>
              <a:t>hình</a:t>
            </a:r>
            <a:r>
              <a:rPr lang="en-US" sz="1500" b="0" i="0" u="none" strike="noStrike" cap="none" dirty="0">
                <a:solidFill>
                  <a:srgbClr val="333333"/>
                </a:solidFill>
                <a:latin typeface="DM Sans"/>
                <a:ea typeface="DM Sans"/>
                <a:cs typeface="DM Sans"/>
                <a:sym typeface="DM Sans"/>
              </a:rPr>
              <a:t> OLED 1.3 inch.</a:t>
            </a:r>
            <a:endParaRPr dirty="0"/>
          </a:p>
        </p:txBody>
      </p:sp>
      <p:pic>
        <p:nvPicPr>
          <p:cNvPr id="237" name="Google Shape;237;p22" descr="image.png"/>
          <p:cNvPicPr preferRelativeResize="0"/>
          <p:nvPr/>
        </p:nvPicPr>
        <p:blipFill rotWithShape="1">
          <a:blip r:embed="rId4">
            <a:alphaModFix/>
          </a:blip>
          <a:srcRect/>
          <a:stretch/>
        </p:blipFill>
        <p:spPr>
          <a:xfrm>
            <a:off x="644013" y="1409700"/>
            <a:ext cx="266700" cy="219075"/>
          </a:xfrm>
          <a:prstGeom prst="rect">
            <a:avLst/>
          </a:prstGeom>
          <a:noFill/>
          <a:ln>
            <a:noFill/>
          </a:ln>
        </p:spPr>
      </p:pic>
      <p:sp>
        <p:nvSpPr>
          <p:cNvPr id="240" name="Google Shape;240;p22"/>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150" b="1" dirty="0">
                <a:solidFill>
                  <a:srgbClr val="005088"/>
                </a:solidFill>
                <a:latin typeface="Merriweather"/>
                <a:ea typeface="Merriweather"/>
                <a:cs typeface="Merriweather"/>
                <a:sym typeface="Merriweather"/>
              </a:rPr>
              <a:t>10</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Kết</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Quả</a:t>
            </a:r>
            <a:r>
              <a:rPr lang="en-US" sz="3150" b="1" i="0" u="none" strike="noStrike" cap="none" dirty="0">
                <a:solidFill>
                  <a:srgbClr val="005088"/>
                </a:solidFill>
                <a:latin typeface="Merriweather"/>
                <a:ea typeface="Merriweather"/>
                <a:cs typeface="Merriweather"/>
                <a:sym typeface="Merriweather"/>
              </a:rPr>
              <a:t> Thu </a:t>
            </a:r>
            <a:r>
              <a:rPr lang="en-US" sz="3150" b="1" i="0" u="none" strike="noStrike" cap="none" dirty="0" err="1">
                <a:solidFill>
                  <a:srgbClr val="005088"/>
                </a:solidFill>
                <a:latin typeface="Merriweather"/>
                <a:ea typeface="Merriweather"/>
                <a:cs typeface="Merriweather"/>
                <a:sym typeface="Merriweather"/>
              </a:rPr>
              <a:t>Thập</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Dữ</a:t>
            </a:r>
            <a:r>
              <a:rPr lang="en-US" sz="3150" b="1" i="0" u="none" strike="noStrike" cap="none" dirty="0">
                <a:solidFill>
                  <a:srgbClr val="005088"/>
                </a:solidFill>
                <a:latin typeface="Merriweather"/>
                <a:ea typeface="Merriweather"/>
                <a:cs typeface="Merriweather"/>
                <a:sym typeface="Merriweather"/>
              </a:rPr>
              <a:t> Liệu</a:t>
            </a:r>
            <a:endParaRPr dirty="0"/>
          </a:p>
        </p:txBody>
      </p:sp>
      <p:sp>
        <p:nvSpPr>
          <p:cNvPr id="241" name="Google Shape;241;p22"/>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796E37BC-FEE2-6766-04BF-312134B993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013" y="1847850"/>
            <a:ext cx="11290566" cy="495299"/>
          </a:xfrm>
          <a:prstGeom prst="rect">
            <a:avLst/>
          </a:prstGeom>
        </p:spPr>
      </p:pic>
      <p:pic>
        <p:nvPicPr>
          <p:cNvPr id="3" name="Picture 2">
            <a:extLst>
              <a:ext uri="{FF2B5EF4-FFF2-40B4-BE49-F238E27FC236}">
                <a16:creationId xmlns:a16="http://schemas.microsoft.com/office/drawing/2014/main" id="{586D8503-2072-7C4A-0C89-CAB988C758D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0080" y="2605763"/>
            <a:ext cx="11290566" cy="577849"/>
          </a:xfrm>
          <a:prstGeom prst="rect">
            <a:avLst/>
          </a:prstGeom>
        </p:spPr>
      </p:pic>
      <p:pic>
        <p:nvPicPr>
          <p:cNvPr id="4" name="Picture 3" descr="A small square electronic device with wires&#10;&#10;AI-generated content may be incorrect.">
            <a:extLst>
              <a:ext uri="{FF2B5EF4-FFF2-40B4-BE49-F238E27FC236}">
                <a16:creationId xmlns:a16="http://schemas.microsoft.com/office/drawing/2014/main" id="{BCFF9CD2-8F41-E1E1-6ECF-E958DE82C35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84547" y="3429000"/>
            <a:ext cx="4318911" cy="323905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30">
          <a:extLst>
            <a:ext uri="{FF2B5EF4-FFF2-40B4-BE49-F238E27FC236}">
              <a16:creationId xmlns:a16="http://schemas.microsoft.com/office/drawing/2014/main" id="{3510174C-C47B-B5A6-4CAE-B6F53DF50AB8}"/>
            </a:ext>
          </a:extLst>
        </p:cNvPr>
        <p:cNvGrpSpPr/>
        <p:nvPr/>
      </p:nvGrpSpPr>
      <p:grpSpPr>
        <a:xfrm>
          <a:off x="0" y="0"/>
          <a:ext cx="0" cy="0"/>
          <a:chOff x="0" y="0"/>
          <a:chExt cx="0" cy="0"/>
        </a:xfrm>
      </p:grpSpPr>
      <p:pic>
        <p:nvPicPr>
          <p:cNvPr id="231" name="Google Shape;231;p22" descr="image.png">
            <a:extLst>
              <a:ext uri="{FF2B5EF4-FFF2-40B4-BE49-F238E27FC236}">
                <a16:creationId xmlns:a16="http://schemas.microsoft.com/office/drawing/2014/main" id="{2732905C-93D6-66D9-D10F-0F1A7BD13FA0}"/>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4" name="Google Shape;234;p22">
            <a:extLst>
              <a:ext uri="{FF2B5EF4-FFF2-40B4-BE49-F238E27FC236}">
                <a16:creationId xmlns:a16="http://schemas.microsoft.com/office/drawing/2014/main" id="{EDF43F27-9216-1E9F-FF31-87797FE61929}"/>
              </a:ext>
            </a:extLst>
          </p:cNvPr>
          <p:cNvSpPr txBox="1"/>
          <p:nvPr/>
        </p:nvSpPr>
        <p:spPr>
          <a:xfrm>
            <a:off x="973701" y="1323898"/>
            <a:ext cx="7029757"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3333"/>
                </a:solidFill>
                <a:latin typeface="DM Sans"/>
                <a:ea typeface="DM Sans"/>
                <a:cs typeface="DM Sans"/>
                <a:sym typeface="DM Sans"/>
              </a:rPr>
              <a:t>Tại</a:t>
            </a:r>
            <a:r>
              <a:rPr lang="en-US" sz="1500" b="1" i="0" u="none" strike="noStrike" cap="none" dirty="0">
                <a:solidFill>
                  <a:srgbClr val="333333"/>
                </a:solidFill>
                <a:latin typeface="DM Sans"/>
                <a:ea typeface="DM Sans"/>
                <a:cs typeface="DM Sans"/>
                <a:sym typeface="DM Sans"/>
              </a:rPr>
              <a:t> </a:t>
            </a:r>
            <a:r>
              <a:rPr lang="vi-VN" sz="1500" b="1" dirty="0">
                <a:solidFill>
                  <a:srgbClr val="333333"/>
                </a:solidFill>
                <a:latin typeface="DM Sans"/>
                <a:ea typeface="DM Sans"/>
                <a:cs typeface="DM Sans"/>
                <a:sym typeface="DM Sans"/>
              </a:rPr>
              <a:t>Relay</a:t>
            </a:r>
            <a:r>
              <a:rPr lang="en-US" sz="1500" b="1" i="0" u="none" strike="noStrike" cap="none" dirty="0">
                <a:solidFill>
                  <a:srgbClr val="333333"/>
                </a:solidFill>
                <a:latin typeface="DM Sans"/>
                <a:ea typeface="DM Sans"/>
                <a:cs typeface="DM Sans"/>
                <a:sym typeface="DM Sans"/>
              </a:rPr>
              <a:t> Node:</a:t>
            </a:r>
            <a:r>
              <a:rPr lang="en-US" sz="1500" b="0" i="0" u="none" strike="noStrike" cap="none" dirty="0">
                <a:solidFill>
                  <a:srgbClr val="333333"/>
                </a:solidFill>
                <a:latin typeface="DM Sans"/>
                <a:ea typeface="DM Sans"/>
                <a:cs typeface="DM Sans"/>
                <a:sym typeface="DM Sans"/>
              </a:rPr>
              <a:t> </a:t>
            </a:r>
            <a:r>
              <a:rPr lang="vi-VN" sz="1500" dirty="0">
                <a:solidFill>
                  <a:srgbClr val="333333"/>
                </a:solidFill>
                <a:latin typeface="DM Sans"/>
                <a:ea typeface="DM Sans"/>
                <a:cs typeface="DM Sans"/>
                <a:sym typeface="DM Sans"/>
              </a:rPr>
              <a:t>Chuyển tiếp các gói JSON giữa các tầng</a:t>
            </a:r>
            <a:r>
              <a:rPr lang="en-US" sz="1500" b="0" i="0" u="none" strike="noStrike" cap="none" dirty="0">
                <a:solidFill>
                  <a:srgbClr val="333333"/>
                </a:solidFill>
                <a:latin typeface="DM Sans"/>
                <a:ea typeface="DM Sans"/>
                <a:cs typeface="DM Sans"/>
                <a:sym typeface="DM Sans"/>
              </a:rPr>
              <a:t>.</a:t>
            </a:r>
            <a:endParaRPr dirty="0"/>
          </a:p>
        </p:txBody>
      </p:sp>
      <p:pic>
        <p:nvPicPr>
          <p:cNvPr id="237" name="Google Shape;237;p22" descr="image.png">
            <a:extLst>
              <a:ext uri="{FF2B5EF4-FFF2-40B4-BE49-F238E27FC236}">
                <a16:creationId xmlns:a16="http://schemas.microsoft.com/office/drawing/2014/main" id="{101375F8-2230-2D04-8244-215CAC4F2F6A}"/>
              </a:ext>
            </a:extLst>
          </p:cNvPr>
          <p:cNvPicPr preferRelativeResize="0"/>
          <p:nvPr/>
        </p:nvPicPr>
        <p:blipFill rotWithShape="1">
          <a:blip r:embed="rId4">
            <a:alphaModFix/>
          </a:blip>
          <a:srcRect/>
          <a:stretch/>
        </p:blipFill>
        <p:spPr>
          <a:xfrm>
            <a:off x="644013" y="1409700"/>
            <a:ext cx="266700" cy="219075"/>
          </a:xfrm>
          <a:prstGeom prst="rect">
            <a:avLst/>
          </a:prstGeom>
          <a:noFill/>
          <a:ln>
            <a:noFill/>
          </a:ln>
        </p:spPr>
      </p:pic>
      <p:sp>
        <p:nvSpPr>
          <p:cNvPr id="240" name="Google Shape;240;p22">
            <a:extLst>
              <a:ext uri="{FF2B5EF4-FFF2-40B4-BE49-F238E27FC236}">
                <a16:creationId xmlns:a16="http://schemas.microsoft.com/office/drawing/2014/main" id="{AD0CCE43-80EA-7D4B-0A55-A7E6555BE489}"/>
              </a:ext>
            </a:extLst>
          </p:cNvPr>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150" b="1" dirty="0">
                <a:solidFill>
                  <a:srgbClr val="005088"/>
                </a:solidFill>
                <a:latin typeface="Merriweather"/>
                <a:ea typeface="Merriweather"/>
                <a:cs typeface="Merriweather"/>
                <a:sym typeface="Merriweather"/>
              </a:rPr>
              <a:t>10</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Kết</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Quả</a:t>
            </a:r>
            <a:r>
              <a:rPr lang="en-US" sz="3150" b="1" i="0" u="none" strike="noStrike" cap="none" dirty="0">
                <a:solidFill>
                  <a:srgbClr val="005088"/>
                </a:solidFill>
                <a:latin typeface="Merriweather"/>
                <a:ea typeface="Merriweather"/>
                <a:cs typeface="Merriweather"/>
                <a:sym typeface="Merriweather"/>
              </a:rPr>
              <a:t> Thu </a:t>
            </a:r>
            <a:r>
              <a:rPr lang="en-US" sz="3150" b="1" i="0" u="none" strike="noStrike" cap="none" dirty="0" err="1">
                <a:solidFill>
                  <a:srgbClr val="005088"/>
                </a:solidFill>
                <a:latin typeface="Merriweather"/>
                <a:ea typeface="Merriweather"/>
                <a:cs typeface="Merriweather"/>
                <a:sym typeface="Merriweather"/>
              </a:rPr>
              <a:t>Thập</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Dữ</a:t>
            </a:r>
            <a:r>
              <a:rPr lang="en-US" sz="3150" b="1" i="0" u="none" strike="noStrike" cap="none" dirty="0">
                <a:solidFill>
                  <a:srgbClr val="005088"/>
                </a:solidFill>
                <a:latin typeface="Merriweather"/>
                <a:ea typeface="Merriweather"/>
                <a:cs typeface="Merriweather"/>
                <a:sym typeface="Merriweather"/>
              </a:rPr>
              <a:t> Liệu</a:t>
            </a:r>
            <a:endParaRPr dirty="0"/>
          </a:p>
        </p:txBody>
      </p:sp>
      <p:sp>
        <p:nvSpPr>
          <p:cNvPr id="241" name="Google Shape;241;p22">
            <a:extLst>
              <a:ext uri="{FF2B5EF4-FFF2-40B4-BE49-F238E27FC236}">
                <a16:creationId xmlns:a16="http://schemas.microsoft.com/office/drawing/2014/main" id="{955D4D41-7B66-9C5C-A0C8-78DC5CD26998}"/>
              </a:ext>
            </a:extLst>
          </p:cNvPr>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234;p22">
            <a:extLst>
              <a:ext uri="{FF2B5EF4-FFF2-40B4-BE49-F238E27FC236}">
                <a16:creationId xmlns:a16="http://schemas.microsoft.com/office/drawing/2014/main" id="{3C135E04-24F5-3B2E-3DB5-6E0D1272FF1E}"/>
              </a:ext>
            </a:extLst>
          </p:cNvPr>
          <p:cNvSpPr txBox="1"/>
          <p:nvPr/>
        </p:nvSpPr>
        <p:spPr>
          <a:xfrm>
            <a:off x="973701" y="1762048"/>
            <a:ext cx="874765"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sz="1500" dirty="0">
                <a:solidFill>
                  <a:srgbClr val="333333"/>
                </a:solidFill>
                <a:sym typeface="DM Sans"/>
              </a:rPr>
              <a:t>Node A</a:t>
            </a:r>
            <a:endParaRPr dirty="0"/>
          </a:p>
        </p:txBody>
      </p:sp>
      <p:pic>
        <p:nvPicPr>
          <p:cNvPr id="6" name="Picture 5">
            <a:extLst>
              <a:ext uri="{FF2B5EF4-FFF2-40B4-BE49-F238E27FC236}">
                <a16:creationId xmlns:a16="http://schemas.microsoft.com/office/drawing/2014/main" id="{B395F919-6F98-294C-3BDB-89BFF67655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0713" y="2200198"/>
            <a:ext cx="10709787" cy="895745"/>
          </a:xfrm>
          <a:prstGeom prst="rect">
            <a:avLst/>
          </a:prstGeom>
        </p:spPr>
      </p:pic>
      <p:pic>
        <p:nvPicPr>
          <p:cNvPr id="7" name="Picture 6">
            <a:extLst>
              <a:ext uri="{FF2B5EF4-FFF2-40B4-BE49-F238E27FC236}">
                <a16:creationId xmlns:a16="http://schemas.microsoft.com/office/drawing/2014/main" id="{FB49B1C3-6F36-6D8D-2A3B-ECC5FD6BA9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0713" y="3324297"/>
            <a:ext cx="10709787" cy="831678"/>
          </a:xfrm>
          <a:prstGeom prst="rect">
            <a:avLst/>
          </a:prstGeom>
        </p:spPr>
      </p:pic>
      <p:sp>
        <p:nvSpPr>
          <p:cNvPr id="8" name="Google Shape;234;p22">
            <a:extLst>
              <a:ext uri="{FF2B5EF4-FFF2-40B4-BE49-F238E27FC236}">
                <a16:creationId xmlns:a16="http://schemas.microsoft.com/office/drawing/2014/main" id="{0C440C22-71C3-DA35-155D-54D2AB97B735}"/>
              </a:ext>
            </a:extLst>
          </p:cNvPr>
          <p:cNvSpPr txBox="1"/>
          <p:nvPr/>
        </p:nvSpPr>
        <p:spPr>
          <a:xfrm>
            <a:off x="930379" y="4262289"/>
            <a:ext cx="874765"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sz="1500" dirty="0">
                <a:solidFill>
                  <a:srgbClr val="333333"/>
                </a:solidFill>
                <a:sym typeface="DM Sans"/>
              </a:rPr>
              <a:t>Node B</a:t>
            </a:r>
            <a:endParaRPr dirty="0"/>
          </a:p>
        </p:txBody>
      </p:sp>
      <p:pic>
        <p:nvPicPr>
          <p:cNvPr id="9" name="Picture 8">
            <a:extLst>
              <a:ext uri="{FF2B5EF4-FFF2-40B4-BE49-F238E27FC236}">
                <a16:creationId xmlns:a16="http://schemas.microsoft.com/office/drawing/2014/main" id="{1B24ADE9-20FD-F8C9-9336-EFD5318325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0713" y="4787834"/>
            <a:ext cx="10709787" cy="899304"/>
          </a:xfrm>
          <a:prstGeom prst="rect">
            <a:avLst/>
          </a:prstGeom>
        </p:spPr>
      </p:pic>
      <p:pic>
        <p:nvPicPr>
          <p:cNvPr id="10" name="Picture 9">
            <a:extLst>
              <a:ext uri="{FF2B5EF4-FFF2-40B4-BE49-F238E27FC236}">
                <a16:creationId xmlns:a16="http://schemas.microsoft.com/office/drawing/2014/main" id="{29513F24-8BEE-89FA-C9B8-436EB88054F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0713" y="5883387"/>
            <a:ext cx="10709787" cy="813882"/>
          </a:xfrm>
          <a:prstGeom prst="rect">
            <a:avLst/>
          </a:prstGeom>
        </p:spPr>
      </p:pic>
    </p:spTree>
    <p:extLst>
      <p:ext uri="{BB962C8B-B14F-4D97-AF65-F5344CB8AC3E}">
        <p14:creationId xmlns:p14="http://schemas.microsoft.com/office/powerpoint/2010/main" val="3260637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30">
          <a:extLst>
            <a:ext uri="{FF2B5EF4-FFF2-40B4-BE49-F238E27FC236}">
              <a16:creationId xmlns:a16="http://schemas.microsoft.com/office/drawing/2014/main" id="{5A118FEF-DCD4-E0B4-0E29-D3EA9FBA069E}"/>
            </a:ext>
          </a:extLst>
        </p:cNvPr>
        <p:cNvGrpSpPr/>
        <p:nvPr/>
      </p:nvGrpSpPr>
      <p:grpSpPr>
        <a:xfrm>
          <a:off x="0" y="0"/>
          <a:ext cx="0" cy="0"/>
          <a:chOff x="0" y="0"/>
          <a:chExt cx="0" cy="0"/>
        </a:xfrm>
      </p:grpSpPr>
      <p:pic>
        <p:nvPicPr>
          <p:cNvPr id="231" name="Google Shape;231;p22" descr="image.png">
            <a:extLst>
              <a:ext uri="{FF2B5EF4-FFF2-40B4-BE49-F238E27FC236}">
                <a16:creationId xmlns:a16="http://schemas.microsoft.com/office/drawing/2014/main" id="{4FE59D7E-1FEE-10F2-A691-E263F0A59117}"/>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4" name="Google Shape;234;p22">
            <a:extLst>
              <a:ext uri="{FF2B5EF4-FFF2-40B4-BE49-F238E27FC236}">
                <a16:creationId xmlns:a16="http://schemas.microsoft.com/office/drawing/2014/main" id="{58120BCB-391D-F235-BA86-8BD0CBCE8788}"/>
              </a:ext>
            </a:extLst>
          </p:cNvPr>
          <p:cNvSpPr txBox="1"/>
          <p:nvPr/>
        </p:nvSpPr>
        <p:spPr>
          <a:xfrm>
            <a:off x="973701" y="1323898"/>
            <a:ext cx="7029757"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err="1">
                <a:solidFill>
                  <a:srgbClr val="333333"/>
                </a:solidFill>
                <a:latin typeface="DM Sans"/>
                <a:ea typeface="DM Sans"/>
                <a:cs typeface="DM Sans"/>
                <a:sym typeface="DM Sans"/>
              </a:rPr>
              <a:t>Tại</a:t>
            </a:r>
            <a:r>
              <a:rPr lang="en-US" sz="1500" b="1" i="0" u="none" strike="noStrike" cap="none" dirty="0">
                <a:solidFill>
                  <a:srgbClr val="333333"/>
                </a:solidFill>
                <a:latin typeface="DM Sans"/>
                <a:ea typeface="DM Sans"/>
                <a:cs typeface="DM Sans"/>
                <a:sym typeface="DM Sans"/>
              </a:rPr>
              <a:t> </a:t>
            </a:r>
            <a:r>
              <a:rPr lang="vi-VN" sz="1500" b="1" dirty="0">
                <a:solidFill>
                  <a:srgbClr val="333333"/>
                </a:solidFill>
                <a:latin typeface="DM Sans"/>
                <a:ea typeface="DM Sans"/>
                <a:cs typeface="DM Sans"/>
                <a:sym typeface="DM Sans"/>
              </a:rPr>
              <a:t>Root</a:t>
            </a:r>
            <a:r>
              <a:rPr lang="en-US" sz="1500" b="1" i="0" u="none" strike="noStrike" cap="none" dirty="0">
                <a:solidFill>
                  <a:srgbClr val="333333"/>
                </a:solidFill>
                <a:latin typeface="DM Sans"/>
                <a:ea typeface="DM Sans"/>
                <a:cs typeface="DM Sans"/>
                <a:sym typeface="DM Sans"/>
              </a:rPr>
              <a:t> Node:</a:t>
            </a:r>
            <a:r>
              <a:rPr lang="en-US" sz="1500" b="0" i="0" u="none" strike="noStrike" cap="none" dirty="0">
                <a:solidFill>
                  <a:srgbClr val="333333"/>
                </a:solidFill>
                <a:latin typeface="DM Sans"/>
                <a:ea typeface="DM Sans"/>
                <a:cs typeface="DM Sans"/>
                <a:sym typeface="DM Sans"/>
              </a:rPr>
              <a:t> </a:t>
            </a:r>
            <a:r>
              <a:rPr lang="vi-VN" sz="1500" b="0" i="0" u="none" strike="noStrike" cap="none" dirty="0">
                <a:solidFill>
                  <a:srgbClr val="333333"/>
                </a:solidFill>
                <a:latin typeface="DM Sans"/>
                <a:ea typeface="DM Sans"/>
                <a:cs typeface="DM Sans"/>
                <a:sym typeface="DM Sans"/>
              </a:rPr>
              <a:t>Kết nối Router Wifi và MQTT Broker</a:t>
            </a:r>
            <a:r>
              <a:rPr lang="en-US" sz="1500" b="0" i="0" u="none" strike="noStrike" cap="none" dirty="0">
                <a:solidFill>
                  <a:srgbClr val="333333"/>
                </a:solidFill>
                <a:latin typeface="DM Sans"/>
                <a:ea typeface="DM Sans"/>
                <a:cs typeface="DM Sans"/>
                <a:sym typeface="DM Sans"/>
              </a:rPr>
              <a:t>.</a:t>
            </a:r>
            <a:endParaRPr dirty="0"/>
          </a:p>
        </p:txBody>
      </p:sp>
      <p:pic>
        <p:nvPicPr>
          <p:cNvPr id="237" name="Google Shape;237;p22" descr="image.png">
            <a:extLst>
              <a:ext uri="{FF2B5EF4-FFF2-40B4-BE49-F238E27FC236}">
                <a16:creationId xmlns:a16="http://schemas.microsoft.com/office/drawing/2014/main" id="{1852A80C-73EE-D155-BEDA-D85DF1695405}"/>
              </a:ext>
            </a:extLst>
          </p:cNvPr>
          <p:cNvPicPr preferRelativeResize="0"/>
          <p:nvPr/>
        </p:nvPicPr>
        <p:blipFill rotWithShape="1">
          <a:blip r:embed="rId4">
            <a:alphaModFix/>
          </a:blip>
          <a:srcRect/>
          <a:stretch/>
        </p:blipFill>
        <p:spPr>
          <a:xfrm>
            <a:off x="644013" y="1409700"/>
            <a:ext cx="266700" cy="219075"/>
          </a:xfrm>
          <a:prstGeom prst="rect">
            <a:avLst/>
          </a:prstGeom>
          <a:noFill/>
          <a:ln>
            <a:noFill/>
          </a:ln>
        </p:spPr>
      </p:pic>
      <p:sp>
        <p:nvSpPr>
          <p:cNvPr id="240" name="Google Shape;240;p22">
            <a:extLst>
              <a:ext uri="{FF2B5EF4-FFF2-40B4-BE49-F238E27FC236}">
                <a16:creationId xmlns:a16="http://schemas.microsoft.com/office/drawing/2014/main" id="{AC3AE2F8-8880-EF5C-6879-95DA27488025}"/>
              </a:ext>
            </a:extLst>
          </p:cNvPr>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150" b="1" dirty="0">
                <a:solidFill>
                  <a:srgbClr val="005088"/>
                </a:solidFill>
                <a:latin typeface="Merriweather"/>
                <a:ea typeface="Merriweather"/>
                <a:cs typeface="Merriweather"/>
                <a:sym typeface="Merriweather"/>
              </a:rPr>
              <a:t>10</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Kết</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Quả</a:t>
            </a:r>
            <a:r>
              <a:rPr lang="en-US" sz="3150" b="1" i="0" u="none" strike="noStrike" cap="none" dirty="0">
                <a:solidFill>
                  <a:srgbClr val="005088"/>
                </a:solidFill>
                <a:latin typeface="Merriweather"/>
                <a:ea typeface="Merriweather"/>
                <a:cs typeface="Merriweather"/>
                <a:sym typeface="Merriweather"/>
              </a:rPr>
              <a:t> Thu </a:t>
            </a:r>
            <a:r>
              <a:rPr lang="en-US" sz="3150" b="1" i="0" u="none" strike="noStrike" cap="none" dirty="0" err="1">
                <a:solidFill>
                  <a:srgbClr val="005088"/>
                </a:solidFill>
                <a:latin typeface="Merriweather"/>
                <a:ea typeface="Merriweather"/>
                <a:cs typeface="Merriweather"/>
                <a:sym typeface="Merriweather"/>
              </a:rPr>
              <a:t>Thập</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Dữ</a:t>
            </a:r>
            <a:r>
              <a:rPr lang="en-US" sz="3150" b="1" i="0" u="none" strike="noStrike" cap="none" dirty="0">
                <a:solidFill>
                  <a:srgbClr val="005088"/>
                </a:solidFill>
                <a:latin typeface="Merriweather"/>
                <a:ea typeface="Merriweather"/>
                <a:cs typeface="Merriweather"/>
                <a:sym typeface="Merriweather"/>
              </a:rPr>
              <a:t> Liệu</a:t>
            </a:r>
            <a:endParaRPr dirty="0"/>
          </a:p>
        </p:txBody>
      </p:sp>
      <p:sp>
        <p:nvSpPr>
          <p:cNvPr id="241" name="Google Shape;241;p22">
            <a:extLst>
              <a:ext uri="{FF2B5EF4-FFF2-40B4-BE49-F238E27FC236}">
                <a16:creationId xmlns:a16="http://schemas.microsoft.com/office/drawing/2014/main" id="{48126536-91CF-BE51-E598-264DD7102BEA}"/>
              </a:ext>
            </a:extLst>
          </p:cNvPr>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70EFEE22-44AB-D7B9-656F-CD744C1A79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013" y="1847850"/>
            <a:ext cx="11049000" cy="941252"/>
          </a:xfrm>
          <a:prstGeom prst="rect">
            <a:avLst/>
          </a:prstGeom>
        </p:spPr>
      </p:pic>
      <p:pic>
        <p:nvPicPr>
          <p:cNvPr id="3" name="Picture 2" descr="A screen shot of a computer code&#10;&#10;AI-generated content may be incorrect.">
            <a:extLst>
              <a:ext uri="{FF2B5EF4-FFF2-40B4-BE49-F238E27FC236}">
                <a16:creationId xmlns:a16="http://schemas.microsoft.com/office/drawing/2014/main" id="{3905B4B9-4ECF-9A99-C368-CF3716063D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013" y="3050404"/>
            <a:ext cx="11049000" cy="1526321"/>
          </a:xfrm>
          <a:prstGeom prst="rect">
            <a:avLst/>
          </a:prstGeom>
        </p:spPr>
      </p:pic>
      <p:pic>
        <p:nvPicPr>
          <p:cNvPr id="4" name="Picture 3" descr="A screen shot of numbers&#10;&#10;AI-generated content may be incorrect.">
            <a:extLst>
              <a:ext uri="{FF2B5EF4-FFF2-40B4-BE49-F238E27FC236}">
                <a16:creationId xmlns:a16="http://schemas.microsoft.com/office/drawing/2014/main" id="{12DBB7C3-21D7-F6F4-0680-E9AB5AB714A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0080" y="4838027"/>
            <a:ext cx="11049000" cy="1942480"/>
          </a:xfrm>
          <a:prstGeom prst="rect">
            <a:avLst/>
          </a:prstGeom>
        </p:spPr>
      </p:pic>
    </p:spTree>
    <p:extLst>
      <p:ext uri="{BB962C8B-B14F-4D97-AF65-F5344CB8AC3E}">
        <p14:creationId xmlns:p14="http://schemas.microsoft.com/office/powerpoint/2010/main" val="3662682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45"/>
        <p:cNvGrpSpPr/>
        <p:nvPr/>
      </p:nvGrpSpPr>
      <p:grpSpPr>
        <a:xfrm>
          <a:off x="0" y="0"/>
          <a:ext cx="0" cy="0"/>
          <a:chOff x="0" y="0"/>
          <a:chExt cx="0" cy="0"/>
        </a:xfrm>
      </p:grpSpPr>
      <p:pic>
        <p:nvPicPr>
          <p:cNvPr id="246" name="Google Shape;246;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0" name="Google Shape;250;p23"/>
          <p:cNvSpPr txBox="1"/>
          <p:nvPr/>
        </p:nvSpPr>
        <p:spPr>
          <a:xfrm>
            <a:off x="571500" y="1447800"/>
            <a:ext cx="56007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err="1">
                <a:solidFill>
                  <a:srgbClr val="121212"/>
                </a:solidFill>
                <a:latin typeface="Merriweather"/>
                <a:ea typeface="Merriweather"/>
                <a:cs typeface="Merriweather"/>
                <a:sym typeface="Merriweather"/>
              </a:rPr>
              <a:t>Kiểm</a:t>
            </a:r>
            <a:r>
              <a:rPr lang="en-US" sz="1404" b="1" i="0" u="none" strike="noStrike" cap="none" dirty="0">
                <a:solidFill>
                  <a:srgbClr val="121212"/>
                </a:solidFill>
                <a:latin typeface="Merriweather"/>
                <a:ea typeface="Merriweather"/>
                <a:cs typeface="Merriweather"/>
                <a:sym typeface="Merriweather"/>
              </a:rPr>
              <a:t> </a:t>
            </a:r>
            <a:r>
              <a:rPr lang="en-US" sz="1404" b="1" i="0" u="none" strike="noStrike" cap="none" dirty="0" err="1">
                <a:solidFill>
                  <a:srgbClr val="121212"/>
                </a:solidFill>
                <a:latin typeface="Merriweather"/>
                <a:ea typeface="Merriweather"/>
                <a:cs typeface="Merriweather"/>
                <a:sym typeface="Merriweather"/>
              </a:rPr>
              <a:t>chứng</a:t>
            </a:r>
            <a:r>
              <a:rPr lang="en-US" sz="1404" b="1" i="0" u="none" strike="noStrike" cap="none" dirty="0">
                <a:solidFill>
                  <a:srgbClr val="121212"/>
                </a:solidFill>
                <a:latin typeface="Merriweather"/>
                <a:ea typeface="Merriweather"/>
                <a:cs typeface="Merriweather"/>
                <a:sym typeface="Merriweather"/>
              </a:rPr>
              <a:t> qua </a:t>
            </a:r>
            <a:r>
              <a:rPr lang="en-US" sz="1404" b="1" i="0" u="none" strike="noStrike" cap="none" dirty="0" err="1">
                <a:solidFill>
                  <a:srgbClr val="121212"/>
                </a:solidFill>
                <a:latin typeface="Merriweather"/>
                <a:ea typeface="Merriweather"/>
                <a:cs typeface="Merriweather"/>
                <a:sym typeface="Merriweather"/>
              </a:rPr>
              <a:t>Mosquitto</a:t>
            </a:r>
            <a:endParaRPr dirty="0"/>
          </a:p>
        </p:txBody>
      </p:sp>
      <p:sp>
        <p:nvSpPr>
          <p:cNvPr id="251" name="Google Shape;251;p23"/>
          <p:cNvSpPr txBox="1"/>
          <p:nvPr/>
        </p:nvSpPr>
        <p:spPr>
          <a:xfrm>
            <a:off x="571500" y="1766887"/>
            <a:ext cx="533400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33333"/>
                </a:solidFill>
                <a:latin typeface="DM Sans"/>
                <a:ea typeface="DM Sans"/>
                <a:cs typeface="DM Sans"/>
                <a:sym typeface="DM Sans"/>
              </a:rPr>
              <a:t>Root Node publish </a:t>
            </a:r>
            <a:r>
              <a:rPr lang="en-US" sz="1500" b="0" i="0" u="none" strike="noStrike" cap="none" dirty="0" err="1">
                <a:solidFill>
                  <a:srgbClr val="333333"/>
                </a:solidFill>
                <a:latin typeface="DM Sans"/>
                <a:ea typeface="DM Sans"/>
                <a:cs typeface="DM Sans"/>
                <a:sym typeface="DM Sans"/>
              </a:rPr>
              <a:t>lên</a:t>
            </a:r>
            <a:r>
              <a:rPr lang="en-US" sz="1500" b="0" i="0" u="none" strike="noStrike" cap="none" dirty="0">
                <a:solidFill>
                  <a:srgbClr val="333333"/>
                </a:solidFill>
                <a:latin typeface="DM Sans"/>
                <a:ea typeface="DM Sans"/>
                <a:cs typeface="DM Sans"/>
                <a:sym typeface="DM Sans"/>
              </a:rPr>
              <a:t> topic: </a:t>
            </a:r>
            <a:r>
              <a:rPr lang="vi-VN" sz="1500" b="0" i="0" u="none" strike="noStrike" cap="none" dirty="0">
                <a:solidFill>
                  <a:srgbClr val="333333"/>
                </a:solidFill>
                <a:latin typeface="DM Sans"/>
                <a:ea typeface="DM Sans"/>
                <a:cs typeface="DM Sans"/>
                <a:sym typeface="DM Sans"/>
              </a:rPr>
              <a:t>mesh/94 : 54 : c5 : e7 : 60 : c8</a:t>
            </a:r>
            <a:endParaRPr dirty="0"/>
          </a:p>
        </p:txBody>
      </p:sp>
      <p:sp>
        <p:nvSpPr>
          <p:cNvPr id="252" name="Google Shape;252;p23"/>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150" b="1" i="0" u="none" strike="noStrike" cap="none" dirty="0">
                <a:solidFill>
                  <a:srgbClr val="005088"/>
                </a:solidFill>
                <a:latin typeface="Merriweather"/>
                <a:ea typeface="Merriweather"/>
                <a:cs typeface="Merriweather"/>
                <a:sym typeface="Merriweather"/>
              </a:rPr>
              <a:t>11</a:t>
            </a:r>
            <a:r>
              <a:rPr lang="en-US" sz="3150" b="1" i="0" u="none" strike="noStrike" cap="none" dirty="0">
                <a:solidFill>
                  <a:srgbClr val="005088"/>
                </a:solidFill>
                <a:latin typeface="Merriweather"/>
                <a:ea typeface="Merriweather"/>
                <a:cs typeface="Merriweather"/>
                <a:sym typeface="Merriweather"/>
              </a:rPr>
              <a:t>. </a:t>
            </a:r>
            <a:r>
              <a:rPr lang="en-US" sz="3150" b="1" i="0" u="none" strike="noStrike" cap="none" dirty="0" err="1">
                <a:solidFill>
                  <a:srgbClr val="005088"/>
                </a:solidFill>
                <a:latin typeface="Merriweather"/>
                <a:ea typeface="Merriweather"/>
                <a:cs typeface="Merriweather"/>
                <a:sym typeface="Merriweather"/>
              </a:rPr>
              <a:t>Dữ</a:t>
            </a:r>
            <a:r>
              <a:rPr lang="en-US" sz="3150" b="1" i="0" u="none" strike="noStrike" cap="none" dirty="0">
                <a:solidFill>
                  <a:srgbClr val="005088"/>
                </a:solidFill>
                <a:latin typeface="Merriweather"/>
                <a:ea typeface="Merriweather"/>
                <a:cs typeface="Merriweather"/>
                <a:sym typeface="Merriweather"/>
              </a:rPr>
              <a:t> Liệu </a:t>
            </a:r>
            <a:r>
              <a:rPr lang="en-US" sz="3150" b="1" i="0" u="none" strike="noStrike" cap="none" dirty="0" err="1">
                <a:solidFill>
                  <a:srgbClr val="005088"/>
                </a:solidFill>
                <a:latin typeface="Merriweather"/>
                <a:ea typeface="Merriweather"/>
                <a:cs typeface="Merriweather"/>
                <a:sym typeface="Merriweather"/>
              </a:rPr>
              <a:t>Trên</a:t>
            </a:r>
            <a:r>
              <a:rPr lang="en-US" sz="3150" b="1" i="0" u="none" strike="noStrike" cap="none" dirty="0">
                <a:solidFill>
                  <a:srgbClr val="005088"/>
                </a:solidFill>
                <a:latin typeface="Merriweather"/>
                <a:ea typeface="Merriweather"/>
                <a:cs typeface="Merriweather"/>
                <a:sym typeface="Merriweather"/>
              </a:rPr>
              <a:t> MQTT Broker</a:t>
            </a:r>
            <a:endParaRPr dirty="0"/>
          </a:p>
        </p:txBody>
      </p:sp>
      <p:sp>
        <p:nvSpPr>
          <p:cNvPr id="253" name="Google Shape;253;p23"/>
          <p:cNvSpPr/>
          <p:nvPr/>
        </p:nvSpPr>
        <p:spPr>
          <a:xfrm>
            <a:off x="571500" y="1162050"/>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Picture 1" descr="A screen shot of a computer program&#10;&#10;AI-generated content may be incorrect.">
            <a:extLst>
              <a:ext uri="{FF2B5EF4-FFF2-40B4-BE49-F238E27FC236}">
                <a16:creationId xmlns:a16="http://schemas.microsoft.com/office/drawing/2014/main" id="{069DBC0C-EFC8-1354-B4A8-8DFDF753DA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917" y="2752131"/>
            <a:ext cx="10858616" cy="24491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57"/>
        <p:cNvGrpSpPr/>
        <p:nvPr/>
      </p:nvGrpSpPr>
      <p:grpSpPr>
        <a:xfrm>
          <a:off x="0" y="0"/>
          <a:ext cx="0" cy="0"/>
          <a:chOff x="0" y="0"/>
          <a:chExt cx="0" cy="0"/>
        </a:xfrm>
      </p:grpSpPr>
      <p:pic>
        <p:nvPicPr>
          <p:cNvPr id="258" name="Google Shape;258;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2" name="Google Shape;262;p24"/>
          <p:cNvSpPr txBox="1"/>
          <p:nvPr/>
        </p:nvSpPr>
        <p:spPr>
          <a:xfrm>
            <a:off x="590550" y="3164509"/>
            <a:ext cx="11601450" cy="714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dirty="0">
                <a:solidFill>
                  <a:srgbClr val="005088"/>
                </a:solidFill>
                <a:latin typeface="Merriweather"/>
                <a:ea typeface="Merriweather"/>
                <a:cs typeface="Merriweather"/>
                <a:sym typeface="Merriweather"/>
              </a:rPr>
              <a:t>XIN CẢM ƠN!</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665</Words>
  <Application>Microsoft Office PowerPoint</Application>
  <PresentationFormat>Widescreen</PresentationFormat>
  <Paragraphs>77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DM Sans</vt:lpstr>
      <vt:lpstr>Arial</vt:lpstr>
      <vt:lpstr>Merriweather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Thao Son</cp:lastModifiedBy>
  <cp:revision>23</cp:revision>
  <dcterms:modified xsi:type="dcterms:W3CDTF">2026-01-14T12:57:17Z</dcterms:modified>
</cp:coreProperties>
</file>